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62" r:id="rId4"/>
  </p:sldMasterIdLst>
  <p:notesMasterIdLst>
    <p:notesMasterId r:id="rId26"/>
  </p:notesMasterIdLst>
  <p:handoutMasterIdLst>
    <p:handoutMasterId r:id="rId27"/>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 id="2578" r:id="rId22"/>
    <p:sldId id="2579" r:id="rId23"/>
    <p:sldId id="2580" r:id="rId24"/>
    <p:sldId id="258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SA House Price Prediction Project" id="{3E677A34-3FAA-4B6B-A98F-1ADF648C0C63}">
          <p14:sldIdLst>
            <p14:sldId id="2561"/>
          </p14:sldIdLst>
        </p14:section>
        <p14:section name="Executive Summary" id="{586CF01A-F6E0-4336-A8D2-DF593B9320E8}">
          <p14:sldIdLst>
            <p14:sldId id="2562"/>
            <p14:sldId id="2563"/>
          </p14:sldIdLst>
        </p14:section>
        <p14:section name="Introduction" id="{1085FD0F-E339-41DB-A172-0BC592A09288}">
          <p14:sldIdLst>
            <p14:sldId id="2564"/>
            <p14:sldId id="2565"/>
          </p14:sldIdLst>
        </p14:section>
        <p14:section name="Methodology" id="{25AFAC8D-154B-4962-A126-6C28912D344F}">
          <p14:sldIdLst>
            <p14:sldId id="2566"/>
            <p14:sldId id="2567"/>
          </p14:sldIdLst>
        </p14:section>
        <p14:section name="EDA Insights" id="{602373AB-D976-4B29-8E37-463F53F77879}">
          <p14:sldIdLst>
            <p14:sldId id="2568"/>
            <p14:sldId id="2569"/>
          </p14:sldIdLst>
        </p14:section>
        <p14:section name="Model Development" id="{F94813FD-4BFA-4968-92AE-88573C4C6D59}">
          <p14:sldIdLst>
            <p14:sldId id="2570"/>
            <p14:sldId id="2571"/>
          </p14:sldIdLst>
        </p14:section>
        <p14:section name="Model Comparison" id="{3DD212E2-946E-49D0-A46F-D732CC3A675E}">
          <p14:sldIdLst>
            <p14:sldId id="2572"/>
            <p14:sldId id="2573"/>
          </p14:sldIdLst>
        </p14:section>
        <p14:section name="Deployment" id="{26A9FDEC-7965-46BB-93AE-0591381943FA}">
          <p14:sldIdLst>
            <p14:sldId id="2574"/>
            <p14:sldId id="2575"/>
          </p14:sldIdLst>
        </p14:section>
        <p14:section name="Key Findings" id="{600C1803-B296-4A76-B223-AB9049472539}">
          <p14:sldIdLst>
            <p14:sldId id="2576"/>
            <p14:sldId id="2577"/>
          </p14:sldIdLst>
        </p14:section>
        <p14:section name="Conclusion" id="{78D93D1C-1E80-4CF5-AB2F-91404D9685E1}">
          <p14:sldIdLst>
            <p14:sldId id="2578"/>
            <p14:sldId id="2579"/>
          </p14:sldIdLst>
        </p14:section>
        <p14:section name="Appendix" id="{DE2C4A07-70F8-419F-A935-92431B264FCA}">
          <p14:sldIdLst>
            <p14:sldId id="2580"/>
            <p14:sldId id="258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1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83BC65-4B98-B5EA-C423-B677663D976D}" v="47" dt="2025-11-20T09:27:58.4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11/20/2025</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11/20/2025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11963571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Project Overview and Performance</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2687945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project aims to predict house prices in the USA using machine learning techniques to support investment decisions by a Real Estate Investment Trust. The dataset spans from May 2014 to May 2015 and includes various features of residential properties. The approach involved data wrangling, exploratory data analysis (EDA), model development, and deployment. Multiple regression models were tested, and RandomForestRegressor was selected as the best-performing model. Hyperparameter tuning using GridSearchCV identified optimal parameters: max_depth = 30 and n_estimators = 300. The final model achieved an R² score of 0.78, indicating strong predictive performance. The model was deployed as an interactive web application using Streamlit, allowing users to input house features and receive price predictions.</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11073291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Problem and Project Goal</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40701031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business problem addressed in this project is the need for accurate house price predictions to guide investment decisions for a Real Estate Investment Trust focusing on residential properties. The goal is to determine the market price of a house based on its features, enabling better financial planning and strategic investments. By analyzing historical house sales data and applying machine learning models, the project seeks to uncover key factors influencing house prices and provide a reliable prediction tool.</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14218161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 Processing and Modeling Approach</a:t>
            </a: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21369167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methodology involved several key steps. First, data wrangling was performed by dropping irrelevant columns such as 'Unnamed: 0' and 'id', handling missing values by replacing them with column means, and correcting data types. Exploratory Data Analysis (EDA) was conducted using Pandas and visualization libraries like Seaborn and Matplotlib to understand feature distributions and correlations. Multiple regression models were developed using Scikit-learn, including Linear Regression, Ridge, Lasso, Decision Tree, Random Forest, and XGBoost. Hyperparameter tuning was performed using GridSearchCV to optimize model performance. The RandomForestRegressor model was selected based on its superior R² score and robustness.</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42463574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Features Influencing House Prices</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25120575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Exploratory Data Analysis revealed several important insights. The square footage of the home and the overall grade assigned to the housing unit were found to be the most influential features affecting house prices. Homes with a view of a waterfront were significantly more expensive than others. Interestingly, the condition of the house did not impact the price as much as expected. Additional square footage, excluding the basement, also positively correlated with higher prices. These findings were supported by correlation analysis and visualizations such as heatmaps and bar plots.</a:t>
            </a:r>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40475003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Selected Model and Hyperparameter Tuning</a:t>
            </a:r>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30620752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After evaluating multiple regression models, RandomForestRegressor was selected for its superior performance. Hyperparameter tuning was conducted using GridSearchCV, which identified the best parameters as max_depth = 30 and n_estimators = 300. These settings significantly improved the model's accuracy, resulting in an R² score of 0.78. The model was trained using 80% of the data and tested on the remaining 20%, with performance metrics calculated using mean_squared_error and r2_score. The model's robustness and ability to handle non-linear relationships made it the ideal choice for this prediction task.</a:t>
            </a:r>
          </a:p>
        </p:txBody>
      </p:sp>
      <p:sp>
        <p:nvSpPr>
          <p:cNvPr id="4" name="Slide Number Placeholder 3"/>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5980429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Performance of Regression Models</a:t>
            </a:r>
          </a:p>
        </p:txBody>
      </p:sp>
      <p:sp>
        <p:nvSpPr>
          <p:cNvPr id="4" name="Slide Number Placeholder 3"/>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33193547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Several regression models were tested to identify the best approach for predicting house prices. Linear Regression, Ridge, Lasso, Decision Tree, Random Forest, and XGBoost were evaluated using R² scores. While Linear, Ridge, and Lasso provided baseline performance, Decision Tree and XGBoost showed moderate improvements. RandomForestRegressor outperformed all others with an R² score of 0.78. This comparison highlights the importance of model selection and tuning in achieving accurate predictions. A summary table of model performance was created to visualize the differences and support the final model choice.</a:t>
            </a:r>
          </a:p>
        </p:txBody>
      </p:sp>
      <p:sp>
        <p:nvSpPr>
          <p:cNvPr id="4" name="Slide Number Placeholder 3"/>
          <p:cNvSpPr>
            <a:spLocks noGrp="1"/>
          </p:cNvSpPr>
          <p:nvPr>
            <p:ph type="sldNum" sz="quarter" idx="5"/>
          </p:nvPr>
        </p:nvSpPr>
        <p:spPr/>
        <p:txBody>
          <a:bodyPr/>
          <a:lstStyle/>
          <a:p>
            <a:fld id="{38EFF46E-6B43-41F9-9272-B566D03A251C}" type="slidenum">
              <a:rPr lang="en-US" smtClean="0"/>
              <a:t>13</a:t>
            </a:fld>
            <a:endParaRPr lang="en-US"/>
          </a:p>
        </p:txBody>
      </p:sp>
    </p:spTree>
    <p:extLst>
      <p:ext uri="{BB962C8B-B14F-4D97-AF65-F5344CB8AC3E}">
        <p14:creationId xmlns:p14="http://schemas.microsoft.com/office/powerpoint/2010/main" val="25772502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Web Application and Hosting</a:t>
            </a:r>
          </a:p>
        </p:txBody>
      </p:sp>
      <p:sp>
        <p:nvSpPr>
          <p:cNvPr id="4" name="Slide Number Placeholder 3"/>
          <p:cNvSpPr>
            <a:spLocks noGrp="1"/>
          </p:cNvSpPr>
          <p:nvPr>
            <p:ph type="sldNum" sz="quarter" idx="5"/>
          </p:nvPr>
        </p:nvSpPr>
        <p:spPr/>
        <p:txBody>
          <a:bodyPr/>
          <a:lstStyle/>
          <a:p>
            <a:fld id="{38EFF46E-6B43-41F9-9272-B566D03A251C}" type="slidenum">
              <a:rPr lang="en-US" smtClean="0"/>
              <a:t>14</a:t>
            </a:fld>
            <a:endParaRPr lang="en-US"/>
          </a:p>
        </p:txBody>
      </p:sp>
    </p:spTree>
    <p:extLst>
      <p:ext uri="{BB962C8B-B14F-4D97-AF65-F5344CB8AC3E}">
        <p14:creationId xmlns:p14="http://schemas.microsoft.com/office/powerpoint/2010/main" val="30743764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final model was deployed as an interactive web application using Streamlit. The app allows users to input house features and receive real-time price predictions. The model was stored in Google Drive and accessed using Python libraries such as requests and joblib. The application code was maintained in a GitHub repository, and the app was hosted on Streamlit Cloud for public access. This deployment ensures accessibility and usability for stakeholders, enabling them to make informed investment decisions based on model predictions.</a:t>
            </a:r>
          </a:p>
        </p:txBody>
      </p:sp>
      <p:sp>
        <p:nvSpPr>
          <p:cNvPr id="4" name="Slide Number Placeholder 3"/>
          <p:cNvSpPr>
            <a:spLocks noGrp="1"/>
          </p:cNvSpPr>
          <p:nvPr>
            <p:ph type="sldNum" sz="quarter" idx="5"/>
          </p:nvPr>
        </p:nvSpPr>
        <p:spPr/>
        <p:txBody>
          <a:bodyPr/>
          <a:lstStyle/>
          <a:p>
            <a:fld id="{38EFF46E-6B43-41F9-9272-B566D03A251C}" type="slidenum">
              <a:rPr lang="en-US" smtClean="0"/>
              <a:t>15</a:t>
            </a:fld>
            <a:endParaRPr lang="en-US"/>
          </a:p>
        </p:txBody>
      </p:sp>
    </p:spTree>
    <p:extLst>
      <p:ext uri="{BB962C8B-B14F-4D97-AF65-F5344CB8AC3E}">
        <p14:creationId xmlns:p14="http://schemas.microsoft.com/office/powerpoint/2010/main" val="11314357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Insights for Real Estate Investment</a:t>
            </a:r>
          </a:p>
        </p:txBody>
      </p:sp>
      <p:sp>
        <p:nvSpPr>
          <p:cNvPr id="4" name="Slide Number Placeholder 3"/>
          <p:cNvSpPr>
            <a:spLocks noGrp="1"/>
          </p:cNvSpPr>
          <p:nvPr>
            <p:ph type="sldNum" sz="quarter" idx="5"/>
          </p:nvPr>
        </p:nvSpPr>
        <p:spPr/>
        <p:txBody>
          <a:bodyPr/>
          <a:lstStyle/>
          <a:p>
            <a:fld id="{38EFF46E-6B43-41F9-9272-B566D03A251C}" type="slidenum">
              <a:rPr lang="en-US" smtClean="0"/>
              <a:t>16</a:t>
            </a:fld>
            <a:endParaRPr lang="en-US"/>
          </a:p>
        </p:txBody>
      </p:sp>
    </p:spTree>
    <p:extLst>
      <p:ext uri="{BB962C8B-B14F-4D97-AF65-F5344CB8AC3E}">
        <p14:creationId xmlns:p14="http://schemas.microsoft.com/office/powerpoint/2010/main" val="5929716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analysis provided several key findings that can guide real estate investment decisions. Square footage and housing grade are the most significant predictors of price. Waterfront views add substantial value to properties. The condition of the house, contrary to expectations, has minimal impact on price. These insights help investors focus on the most valuable features when evaluating properties. The deployed model serves as a practical tool for estimating house prices and identifying high-value investments.</a:t>
            </a:r>
          </a:p>
        </p:txBody>
      </p:sp>
      <p:sp>
        <p:nvSpPr>
          <p:cNvPr id="4" name="Slide Number Placeholder 3"/>
          <p:cNvSpPr>
            <a:spLocks noGrp="1"/>
          </p:cNvSpPr>
          <p:nvPr>
            <p:ph type="sldNum" sz="quarter" idx="5"/>
          </p:nvPr>
        </p:nvSpPr>
        <p:spPr/>
        <p:txBody>
          <a:bodyPr/>
          <a:lstStyle/>
          <a:p>
            <a:fld id="{38EFF46E-6B43-41F9-9272-B566D03A251C}" type="slidenum">
              <a:rPr lang="en-US" smtClean="0"/>
              <a:t>17</a:t>
            </a:fld>
            <a:endParaRPr lang="en-US"/>
          </a:p>
        </p:txBody>
      </p:sp>
    </p:spTree>
    <p:extLst>
      <p:ext uri="{BB962C8B-B14F-4D97-AF65-F5344CB8AC3E}">
        <p14:creationId xmlns:p14="http://schemas.microsoft.com/office/powerpoint/2010/main" val="16499169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Project Summary and Future Scope</a:t>
            </a:r>
          </a:p>
        </p:txBody>
      </p:sp>
      <p:sp>
        <p:nvSpPr>
          <p:cNvPr id="4" name="Slide Number Placeholder 3"/>
          <p:cNvSpPr>
            <a:spLocks noGrp="1"/>
          </p:cNvSpPr>
          <p:nvPr>
            <p:ph type="sldNum" sz="quarter" idx="5"/>
          </p:nvPr>
        </p:nvSpPr>
        <p:spPr/>
        <p:txBody>
          <a:bodyPr/>
          <a:lstStyle/>
          <a:p>
            <a:fld id="{38EFF46E-6B43-41F9-9272-B566D03A251C}" type="slidenum">
              <a:rPr lang="en-US" smtClean="0"/>
              <a:t>18</a:t>
            </a:fld>
            <a:endParaRPr lang="en-US"/>
          </a:p>
        </p:txBody>
      </p:sp>
    </p:spTree>
    <p:extLst>
      <p:ext uri="{BB962C8B-B14F-4D97-AF65-F5344CB8AC3E}">
        <p14:creationId xmlns:p14="http://schemas.microsoft.com/office/powerpoint/2010/main" val="27181703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project successfully developed and deployed a RandomForestRegressor model to predict house prices in the USA. With an R² score of 0.78, the model provides reliable predictions based on key house features. The insights gained from EDA and model evaluation support strategic investment decisions. Future improvements could include incorporating additional features, testing advanced models like deep learning, and integrating real-time data for dynamic predictions. The project demonstrates the power of data science in solving real-world business problems.</a:t>
            </a:r>
          </a:p>
        </p:txBody>
      </p:sp>
      <p:sp>
        <p:nvSpPr>
          <p:cNvPr id="4" name="Slide Number Placeholder 3"/>
          <p:cNvSpPr>
            <a:spLocks noGrp="1"/>
          </p:cNvSpPr>
          <p:nvPr>
            <p:ph type="sldNum" sz="quarter" idx="5"/>
          </p:nvPr>
        </p:nvSpPr>
        <p:spPr/>
        <p:txBody>
          <a:bodyPr/>
          <a:lstStyle/>
          <a:p>
            <a:fld id="{38EFF46E-6B43-41F9-9272-B566D03A251C}" type="slidenum">
              <a:rPr lang="en-US" smtClean="0"/>
              <a:t>19</a:t>
            </a:fld>
            <a:endParaRPr lang="en-US"/>
          </a:p>
        </p:txBody>
      </p:sp>
    </p:spTree>
    <p:extLst>
      <p:ext uri="{BB962C8B-B14F-4D97-AF65-F5344CB8AC3E}">
        <p14:creationId xmlns:p14="http://schemas.microsoft.com/office/powerpoint/2010/main" val="3696050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Technical Details and Tools Used</a:t>
            </a:r>
          </a:p>
        </p:txBody>
      </p:sp>
      <p:sp>
        <p:nvSpPr>
          <p:cNvPr id="4" name="Slide Number Placeholder 3"/>
          <p:cNvSpPr>
            <a:spLocks noGrp="1"/>
          </p:cNvSpPr>
          <p:nvPr>
            <p:ph type="sldNum" sz="quarter" idx="5"/>
          </p:nvPr>
        </p:nvSpPr>
        <p:spPr/>
        <p:txBody>
          <a:bodyPr/>
          <a:lstStyle/>
          <a:p>
            <a:fld id="{38EFF46E-6B43-41F9-9272-B566D03A251C}" type="slidenum">
              <a:rPr lang="en-US" smtClean="0"/>
              <a:t>20</a:t>
            </a:fld>
            <a:endParaRPr lang="en-US"/>
          </a:p>
        </p:txBody>
      </p:sp>
    </p:spTree>
    <p:extLst>
      <p:ext uri="{BB962C8B-B14F-4D97-AF65-F5344CB8AC3E}">
        <p14:creationId xmlns:p14="http://schemas.microsoft.com/office/powerpoint/2010/main" val="25280201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dataset used in this project covers house sales in the USA from May 2014 to May 2015. Key features include square footage, grade, condition, and waterfront view. Data preprocessing involved handling missing values, encoding categorical variables, and normalizing numerical data. Models applied include Linear Regression, Ridge, Lasso, Decision Tree, Random Forest, and XGBoost. Evaluation metrics used were R² score and mean squared error. Tools and libraries used include Python, Pandas, NumPy, Scikit-learn, Seaborn, Matplotlib, Streamlit, Google Drive, and GitHub. The project highlights the importance of thorough analysis and model tuning in achieving accurate predictions.</a:t>
            </a:r>
          </a:p>
        </p:txBody>
      </p:sp>
      <p:sp>
        <p:nvSpPr>
          <p:cNvPr id="4" name="Slide Number Placeholder 3"/>
          <p:cNvSpPr>
            <a:spLocks noGrp="1"/>
          </p:cNvSpPr>
          <p:nvPr>
            <p:ph type="sldNum" sz="quarter" idx="5"/>
          </p:nvPr>
        </p:nvSpPr>
        <p:spPr/>
        <p:txBody>
          <a:bodyPr/>
          <a:lstStyle/>
          <a:p>
            <a:fld id="{38EFF46E-6B43-41F9-9272-B566D03A251C}" type="slidenum">
              <a:rPr lang="en-US" smtClean="0"/>
              <a:t>21</a:t>
            </a:fld>
            <a:endParaRPr lang="en-US"/>
          </a:p>
        </p:txBody>
      </p:sp>
    </p:spTree>
    <p:extLst>
      <p:ext uri="{BB962C8B-B14F-4D97-AF65-F5344CB8AC3E}">
        <p14:creationId xmlns:p14="http://schemas.microsoft.com/office/powerpoint/2010/main" val="2911691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dirty="0"/>
              <a:t>Click to edit Master title style</a:t>
            </a:r>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86962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84924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dirty="0"/>
              <a:t>Click to edit Master title style</a:t>
            </a:r>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31822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dirty="0"/>
              <a:t>Click to edit Master title style</a:t>
            </a:r>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2120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481034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604848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58227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dirty="0"/>
              <a:t>Click to edit Master title style</a:t>
            </a:r>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962634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dirty="0"/>
              <a:t>Click to edit Master title style</a:t>
            </a:r>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782751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dirty="0"/>
              <a:t>Click to edit Master title style</a:t>
            </a:r>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93329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dirty="0"/>
              <a:t>Click to edit Master title style</a:t>
            </a:r>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41441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084528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dirty="0"/>
              <a:t>Click to edit Master title style</a:t>
            </a:r>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552925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124393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dirty="0"/>
              <a:t>Click to edit Master title style</a:t>
            </a:r>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9681394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252645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899129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a:t>Click to edit Master title style</a:t>
            </a:r>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213374069"/>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Section Header">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6AC1F45-7001-8B9F-DFF6-7AB9BDFFEEB2}"/>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4C7D192-E835-0A48-0A40-F45D83E2583F}"/>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FB376E1-8198-EB00-587E-C647BCF364D4}"/>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F94599F-6DE1-A082-E9E1-D732956078A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p>
            <a:fld id="{76FC08D9-20DE-421C-BE4E-310427BB699B}" type="datetime1">
              <a:rPr lang="en-US" smtClean="0"/>
              <a:t>11/20/2025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3745732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fld id="{A7F72289-EB8A-47CA-A283-A769C9E761BF}" type="datetime1">
              <a:rPr lang="en-US" smtClean="0"/>
              <a:t>11/20/2025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40352870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a:t>Click to edit Master title style</a:t>
            </a:r>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74049900-C118-46F7-B9EF-5F7C1F0005B2}" type="datetime1">
              <a:rPr lang="en-US" smtClean="0"/>
              <a:t>11/20/2025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2052360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3CC8FB4D-92F2-4C28-8BFC-2AE0229C3E9A}" type="datetime1">
              <a:rPr lang="en-US" smtClean="0"/>
              <a:t>11/20/2025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0406540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28E9021D-675F-4984-8FE0-04DA4F4E22F1}" type="datetime1">
              <a:rPr lang="en-US" smtClean="0"/>
              <a:t>11/20/2025</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258090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11/20/2025</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922020499"/>
      </p:ext>
    </p:extLst>
  </p:cSld>
  <p:clrMap bg1="lt1" tx1="dk1" bg2="lt2" tx2="dk2" accent1="accent1" accent2="accent2" accent3="accent3" accent4="accent4" accent5="accent5" accent6="accent6" hlink="hlink" folHlink="folHlink"/>
  <p:sldLayoutIdLst>
    <p:sldLayoutId id="2147484263" r:id="rId1"/>
    <p:sldLayoutId id="2147484264" r:id="rId2"/>
    <p:sldLayoutId id="2147484265" r:id="rId3"/>
    <p:sldLayoutId id="2147484266" r:id="rId4"/>
    <p:sldLayoutId id="2147484267" r:id="rId5"/>
    <p:sldLayoutId id="2147484268" r:id="rId6"/>
    <p:sldLayoutId id="2147484269" r:id="rId7"/>
    <p:sldLayoutId id="2147484270" r:id="rId8"/>
    <p:sldLayoutId id="2147484271" r:id="rId9"/>
    <p:sldLayoutId id="2147484272" r:id="rId10"/>
    <p:sldLayoutId id="2147484273" r:id="rId11"/>
    <p:sldLayoutId id="2147484274" r:id="rId12"/>
    <p:sldLayoutId id="2147484275" r:id="rId13"/>
    <p:sldLayoutId id="2147484276" r:id="rId14"/>
    <p:sldLayoutId id="2147484277" r:id="rId15"/>
    <p:sldLayoutId id="2147484278" r:id="rId16"/>
    <p:sldLayoutId id="2147484279" r:id="rId17"/>
    <p:sldLayoutId id="2147484280" r:id="rId18"/>
    <p:sldLayoutId id="2147484281" r:id="rId19"/>
    <p:sldLayoutId id="2147484282" r:id="rId20"/>
    <p:sldLayoutId id="2147484283" r:id="rId21"/>
    <p:sldLayoutId id="2147484284" r:id="rId22"/>
    <p:sldLayoutId id="2147484285" r:id="rId23"/>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0D373-ABCB-B112-A371-7AB43082344A}"/>
              </a:ext>
            </a:extLst>
          </p:cNvPr>
          <p:cNvSpPr>
            <a:spLocks noGrp="1"/>
          </p:cNvSpPr>
          <p:nvPr>
            <p:ph type="ctrTitle"/>
          </p:nvPr>
        </p:nvSpPr>
        <p:spPr/>
        <p:txBody>
          <a:bodyPr anchor="b">
            <a:normAutofit/>
          </a:bodyPr>
          <a:lstStyle/>
          <a:p>
            <a:r>
              <a:rPr lang="en-US" sz="4900"/>
              <a:t>USA House Price Prediction Project</a:t>
            </a:r>
          </a:p>
        </p:txBody>
      </p:sp>
      <p:sp>
        <p:nvSpPr>
          <p:cNvPr id="3" name="Subtitle 2">
            <a:extLst>
              <a:ext uri="{FF2B5EF4-FFF2-40B4-BE49-F238E27FC236}">
                <a16:creationId xmlns:a16="http://schemas.microsoft.com/office/drawing/2014/main" id="{B15950C7-AC4B-91E2-8408-9B8DE363B988}"/>
              </a:ext>
            </a:extLst>
          </p:cNvPr>
          <p:cNvSpPr>
            <a:spLocks noGrp="1"/>
          </p:cNvSpPr>
          <p:nvPr>
            <p:ph type="subTitle" idx="1"/>
          </p:nvPr>
        </p:nvSpPr>
        <p:spPr>
          <a:xfrm>
            <a:off x="1569696" y="5774267"/>
            <a:ext cx="7129467" cy="609600"/>
          </a:xfrm>
        </p:spPr>
        <p:txBody>
          <a:bodyPr anchor="t">
            <a:normAutofit/>
          </a:bodyPr>
          <a:lstStyle/>
          <a:p>
            <a:r>
              <a:rPr lang="en-US"/>
              <a:t>Forecasting trends in American real estate market</a:t>
            </a:r>
          </a:p>
        </p:txBody>
      </p:sp>
      <p:pic>
        <p:nvPicPr>
          <p:cNvPr id="4" name="Picture 3" descr="Real Estate Downturn">
            <a:extLst>
              <a:ext uri="{FF2B5EF4-FFF2-40B4-BE49-F238E27FC236}">
                <a16:creationId xmlns:a16="http://schemas.microsoft.com/office/drawing/2014/main" id="{53A59479-7953-4729-9D35-3F5B5C265695}"/>
              </a:ext>
            </a:extLst>
          </p:cNvPr>
          <p:cNvPicPr>
            <a:picLocks noChangeAspect="1"/>
          </p:cNvPicPr>
          <p:nvPr/>
        </p:nvPicPr>
        <p:blipFill>
          <a:blip r:embed="rId3"/>
          <a:srcRect t="31881" b="15385"/>
          <a:stretch>
            <a:fillRect/>
          </a:stretch>
        </p:blipFill>
        <p:spPr>
          <a:xfrm>
            <a:off x="20" y="10"/>
            <a:ext cx="12191980" cy="4114790"/>
          </a:xfrm>
          <a:prstGeom prst="rect">
            <a:avLst/>
          </a:prstGeom>
          <a:noFill/>
        </p:spPr>
      </p:pic>
    </p:spTree>
    <p:extLst>
      <p:ext uri="{BB962C8B-B14F-4D97-AF65-F5344CB8AC3E}">
        <p14:creationId xmlns:p14="http://schemas.microsoft.com/office/powerpoint/2010/main" val="2000038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0797D-0920-0775-F5DF-8DF68F7B5BAC}"/>
              </a:ext>
            </a:extLst>
          </p:cNvPr>
          <p:cNvSpPr>
            <a:spLocks noGrp="1"/>
          </p:cNvSpPr>
          <p:nvPr>
            <p:ph type="ctrTitle"/>
          </p:nvPr>
        </p:nvSpPr>
        <p:spPr/>
        <p:txBody>
          <a:bodyPr anchor="b">
            <a:normAutofit/>
          </a:bodyPr>
          <a:lstStyle/>
          <a:p>
            <a:r>
              <a:rPr lang="en-US"/>
              <a:t>Executive Summary</a:t>
            </a:r>
          </a:p>
        </p:txBody>
      </p:sp>
    </p:spTree>
    <p:extLst>
      <p:ext uri="{BB962C8B-B14F-4D97-AF65-F5344CB8AC3E}">
        <p14:creationId xmlns:p14="http://schemas.microsoft.com/office/powerpoint/2010/main" val="9632962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D1E20-F71D-BD61-D218-F74D6178BDA5}"/>
              </a:ext>
            </a:extLst>
          </p:cNvPr>
          <p:cNvSpPr>
            <a:spLocks noGrp="1"/>
          </p:cNvSpPr>
          <p:nvPr>
            <p:ph type="title"/>
          </p:nvPr>
        </p:nvSpPr>
        <p:spPr>
          <a:xfrm>
            <a:off x="1115855" y="441385"/>
            <a:ext cx="6858000" cy="1111532"/>
          </a:xfrm>
        </p:spPr>
        <p:txBody>
          <a:bodyPr anchor="b">
            <a:normAutofit/>
          </a:bodyPr>
          <a:lstStyle/>
          <a:p>
            <a:r>
              <a:rPr lang="en-US" sz="3800"/>
              <a:t>Project Overview and Performance</a:t>
            </a:r>
          </a:p>
        </p:txBody>
      </p:sp>
      <p:sp>
        <p:nvSpPr>
          <p:cNvPr id="4" name="Content Placeholder 3">
            <a:extLst>
              <a:ext uri="{FF2B5EF4-FFF2-40B4-BE49-F238E27FC236}">
                <a16:creationId xmlns:a16="http://schemas.microsoft.com/office/drawing/2014/main" id="{54120A6F-A436-F11E-C34C-CF39D0CDE3C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345892" y="1721545"/>
            <a:ext cx="6858000" cy="4200198"/>
          </a:xfrm>
        </p:spPr>
        <p:txBody>
          <a:bodyPr>
            <a:normAutofit/>
          </a:bodyPr>
          <a:lstStyle/>
          <a:p>
            <a:pPr marL="0" indent="0">
              <a:spcBef>
                <a:spcPts val="2500"/>
              </a:spcBef>
              <a:buFont typeface="Arial" panose="020B0604020202020204" pitchFamily="34" charset="0"/>
              <a:buNone/>
            </a:pPr>
            <a:r>
              <a:rPr lang="en-US" b="1"/>
              <a:t>Project Objective</a:t>
            </a:r>
          </a:p>
          <a:p>
            <a:pPr marL="0" lvl="1" indent="0">
              <a:buFont typeface="Arial" panose="020B0604020202020204" pitchFamily="34" charset="0"/>
              <a:buNone/>
            </a:pPr>
            <a:r>
              <a:t>Predict house prices in the USA using machine learning to aid Real Estate Investment Trust decisions.</a:t>
            </a:r>
            <a:endParaRPr lang="en-US"/>
          </a:p>
          <a:p>
            <a:pPr marL="0" indent="0">
              <a:spcBef>
                <a:spcPts val="2500"/>
              </a:spcBef>
              <a:buFont typeface="Arial" panose="020B0604020202020204" pitchFamily="34" charset="0"/>
              <a:buNone/>
            </a:pPr>
            <a:r>
              <a:rPr lang="en-US" b="1"/>
              <a:t>Model Development</a:t>
            </a:r>
          </a:p>
          <a:p>
            <a:pPr marL="0" lvl="1" indent="0">
              <a:buFont typeface="Arial" panose="020B0604020202020204" pitchFamily="34" charset="0"/>
              <a:buNone/>
            </a:pPr>
            <a:r>
              <a:t>RandomForestRegressor was chosen after testing multiple regression models for best predictive accuracy.</a:t>
            </a:r>
            <a:endParaRPr lang="en-US"/>
          </a:p>
          <a:p>
            <a:pPr marL="0" indent="0">
              <a:spcBef>
                <a:spcPts val="2500"/>
              </a:spcBef>
              <a:buFont typeface="Arial" panose="020B0604020202020204" pitchFamily="34" charset="0"/>
              <a:buNone/>
            </a:pPr>
            <a:r>
              <a:rPr lang="en-US" b="1"/>
              <a:t>Hyperparameter Tuning</a:t>
            </a:r>
          </a:p>
          <a:p>
            <a:pPr marL="0" lvl="1" indent="0">
              <a:buFont typeface="Arial" panose="020B0604020202020204" pitchFamily="34" charset="0"/>
              <a:buNone/>
            </a:pPr>
            <a:r>
              <a:t>GridSearchCV optimized model parameters to max_depth 30 and n_estimators 300 for improved performance.</a:t>
            </a:r>
            <a:endParaRPr lang="en-US"/>
          </a:p>
          <a:p>
            <a:pPr marL="0" indent="0">
              <a:spcBef>
                <a:spcPts val="2500"/>
              </a:spcBef>
              <a:buFont typeface="Arial" panose="020B0604020202020204" pitchFamily="34" charset="0"/>
              <a:buNone/>
            </a:pPr>
            <a:r>
              <a:rPr lang="en-US" b="1"/>
              <a:t>Deployment</a:t>
            </a:r>
          </a:p>
          <a:p>
            <a:pPr marL="0" lvl="1" indent="0">
              <a:buFont typeface="Arial" panose="020B0604020202020204" pitchFamily="34" charset="0"/>
              <a:buNone/>
            </a:pPr>
            <a:r>
              <a:t>Model deployed as interactive web app using Streamlit for real-time house price predictions.</a:t>
            </a:r>
            <a:endParaRPr lang="en-US"/>
          </a:p>
        </p:txBody>
      </p:sp>
      <p:pic>
        <p:nvPicPr>
          <p:cNvPr id="5" name="Content Placeholder 4" descr="The technology of the home automation system.&#10;Smart home icons : https://www.freepik.com/free-vector/smart-home-controlled-by-phone-infographic-vector_3458597.htm#query=smart%20home&amp;position=21&amp;from_view=search&amp;track=sph">
            <a:extLst>
              <a:ext uri="{FF2B5EF4-FFF2-40B4-BE49-F238E27FC236}">
                <a16:creationId xmlns:a16="http://schemas.microsoft.com/office/drawing/2014/main" id="{5FB4082D-CA40-4EB4-9DC1-9CC01BEF2971}"/>
              </a:ext>
            </a:extLst>
          </p:cNvPr>
          <p:cNvPicPr>
            <a:picLocks noGrp="1" noChangeAspect="1"/>
          </p:cNvPicPr>
          <p:nvPr>
            <p:ph type="pic" sz="quarter" idx="13"/>
          </p:nvPr>
        </p:nvPicPr>
        <p:blipFill>
          <a:blip r:embed="rId3"/>
          <a:srcRect l="32498" r="32498"/>
          <a:stretch/>
        </p:blipFill>
        <p:spPr>
          <a:prstGeom prst="rect">
            <a:avLst/>
          </a:prstGeom>
          <a:noFill/>
        </p:spPr>
      </p:pic>
    </p:spTree>
    <p:extLst>
      <p:ext uri="{BB962C8B-B14F-4D97-AF65-F5344CB8AC3E}">
        <p14:creationId xmlns:p14="http://schemas.microsoft.com/office/powerpoint/2010/main" val="32412459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0E014-5F05-C498-0A3B-E2B9A6FCAA61}"/>
              </a:ext>
            </a:extLst>
          </p:cNvPr>
          <p:cNvSpPr>
            <a:spLocks noGrp="1"/>
          </p:cNvSpPr>
          <p:nvPr>
            <p:ph type="ctrTitle"/>
          </p:nvPr>
        </p:nvSpPr>
        <p:spPr/>
        <p:txBody>
          <a:bodyPr anchor="b">
            <a:normAutofit/>
          </a:bodyPr>
          <a:lstStyle/>
          <a:p>
            <a:r>
              <a:rPr lang="en-US"/>
              <a:t>Introduction</a:t>
            </a:r>
          </a:p>
        </p:txBody>
      </p:sp>
    </p:spTree>
    <p:extLst>
      <p:ext uri="{BB962C8B-B14F-4D97-AF65-F5344CB8AC3E}">
        <p14:creationId xmlns:p14="http://schemas.microsoft.com/office/powerpoint/2010/main" val="34705455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82A8D-5C35-A5B2-2994-F4C52D622A49}"/>
              </a:ext>
            </a:extLst>
          </p:cNvPr>
          <p:cNvSpPr>
            <a:spLocks noGrp="1"/>
          </p:cNvSpPr>
          <p:nvPr>
            <p:ph type="title"/>
          </p:nvPr>
        </p:nvSpPr>
        <p:spPr/>
        <p:txBody>
          <a:bodyPr anchor="b">
            <a:normAutofit/>
          </a:bodyPr>
          <a:lstStyle/>
          <a:p>
            <a:r>
              <a:rPr lang="en-US" sz="3400"/>
              <a:t>Business Problem and Project Goal</a:t>
            </a:r>
          </a:p>
        </p:txBody>
      </p:sp>
      <p:pic>
        <p:nvPicPr>
          <p:cNvPr id="5" name="Content Placeholder 4" descr="Concept of real estate, mortgage and lease">
            <a:extLst>
              <a:ext uri="{FF2B5EF4-FFF2-40B4-BE49-F238E27FC236}">
                <a16:creationId xmlns:a16="http://schemas.microsoft.com/office/drawing/2014/main" id="{346BE3BF-CFD2-4716-B458-CE3468315431}"/>
              </a:ext>
            </a:extLst>
          </p:cNvPr>
          <p:cNvPicPr>
            <a:picLocks noGrp="1" noChangeAspect="1"/>
          </p:cNvPicPr>
          <p:nvPr>
            <p:ph type="pic" sz="quarter" idx="15"/>
          </p:nvPr>
        </p:nvPicPr>
        <p:blipFill>
          <a:blip r:embed="rId3"/>
          <a:srcRect l="18950" r="18950"/>
          <a:stretch/>
        </p:blipFill>
        <p:spPr>
          <a:prstGeom prst="rect">
            <a:avLst/>
          </a:prstGeom>
          <a:noFill/>
        </p:spPr>
      </p:pic>
      <p:sp>
        <p:nvSpPr>
          <p:cNvPr id="4" name="Content Placeholder 3">
            <a:extLst>
              <a:ext uri="{FF2B5EF4-FFF2-40B4-BE49-F238E27FC236}">
                <a16:creationId xmlns:a16="http://schemas.microsoft.com/office/drawing/2014/main" id="{6538EF88-9C80-83C9-BB47-93768480BE8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spcBef>
                <a:spcPts val="2500"/>
              </a:spcBef>
              <a:buFont typeface="Arial" panose="020B0604020202020204" pitchFamily="34" charset="0"/>
              <a:buNone/>
            </a:pPr>
            <a:r>
              <a:rPr lang="en-US" b="1"/>
              <a:t>Business Problem Overview</a:t>
            </a:r>
          </a:p>
          <a:p>
            <a:pPr marL="0" lvl="1" indent="0">
              <a:buFont typeface="Arial" panose="020B0604020202020204" pitchFamily="34" charset="0"/>
              <a:buNone/>
            </a:pPr>
            <a:r>
              <a:t>The project addresses the need for precise house price predictions to aid real estate investment decisions.</a:t>
            </a:r>
            <a:endParaRPr lang="en-US"/>
          </a:p>
          <a:p>
            <a:pPr marL="0" indent="0">
              <a:spcBef>
                <a:spcPts val="2500"/>
              </a:spcBef>
              <a:buFont typeface="Arial" panose="020B0604020202020204" pitchFamily="34" charset="0"/>
              <a:buNone/>
            </a:pPr>
            <a:r>
              <a:rPr lang="en-US" b="1"/>
              <a:t>Project Goal</a:t>
            </a:r>
          </a:p>
          <a:p>
            <a:pPr marL="0" lvl="1" indent="0">
              <a:buFont typeface="Arial" panose="020B0604020202020204" pitchFamily="34" charset="0"/>
              <a:buNone/>
            </a:pPr>
            <a:r>
              <a:t>Aim to determine market house prices based on features to improve financial planning and investment.</a:t>
            </a:r>
            <a:endParaRPr lang="en-US"/>
          </a:p>
          <a:p>
            <a:pPr marL="0" indent="0">
              <a:spcBef>
                <a:spcPts val="2500"/>
              </a:spcBef>
              <a:buFont typeface="Arial" panose="020B0604020202020204" pitchFamily="34" charset="0"/>
              <a:buNone/>
            </a:pPr>
            <a:r>
              <a:rPr lang="en-US" b="1"/>
              <a:t>Methodology</a:t>
            </a:r>
          </a:p>
          <a:p>
            <a:pPr marL="0" lvl="1" indent="0">
              <a:buFont typeface="Arial" panose="020B0604020202020204" pitchFamily="34" charset="0"/>
              <a:buNone/>
            </a:pPr>
            <a:r>
              <a:t>Utilize historical sales data and machine learning models to identify key factors influencing house prices.</a:t>
            </a:r>
            <a:endParaRPr lang="en-US"/>
          </a:p>
        </p:txBody>
      </p:sp>
    </p:spTree>
    <p:extLst>
      <p:ext uri="{BB962C8B-B14F-4D97-AF65-F5344CB8AC3E}">
        <p14:creationId xmlns:p14="http://schemas.microsoft.com/office/powerpoint/2010/main" val="40002805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230AD-4350-A8F2-1A79-B1370ED8912E}"/>
              </a:ext>
            </a:extLst>
          </p:cNvPr>
          <p:cNvSpPr>
            <a:spLocks noGrp="1"/>
          </p:cNvSpPr>
          <p:nvPr>
            <p:ph type="ctrTitle"/>
          </p:nvPr>
        </p:nvSpPr>
        <p:spPr/>
        <p:txBody>
          <a:bodyPr anchor="b">
            <a:normAutofit/>
          </a:bodyPr>
          <a:lstStyle/>
          <a:p>
            <a:r>
              <a:rPr lang="en-US"/>
              <a:t>Methodology</a:t>
            </a:r>
          </a:p>
        </p:txBody>
      </p:sp>
    </p:spTree>
    <p:extLst>
      <p:ext uri="{BB962C8B-B14F-4D97-AF65-F5344CB8AC3E}">
        <p14:creationId xmlns:p14="http://schemas.microsoft.com/office/powerpoint/2010/main" val="3165985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3D0D7-28A0-59F4-AD28-A33B3C48CEE4}"/>
              </a:ext>
            </a:extLst>
          </p:cNvPr>
          <p:cNvSpPr>
            <a:spLocks noGrp="1"/>
          </p:cNvSpPr>
          <p:nvPr>
            <p:ph type="title"/>
          </p:nvPr>
        </p:nvSpPr>
        <p:spPr>
          <a:xfrm>
            <a:off x="1529750" y="700177"/>
            <a:ext cx="4564763" cy="1426798"/>
          </a:xfrm>
        </p:spPr>
        <p:txBody>
          <a:bodyPr anchor="b">
            <a:normAutofit/>
          </a:bodyPr>
          <a:lstStyle/>
          <a:p>
            <a:r>
              <a:rPr lang="en-US" sz="3400"/>
              <a:t>Data Processing and Modeling Approach</a:t>
            </a:r>
          </a:p>
        </p:txBody>
      </p:sp>
      <p:pic>
        <p:nvPicPr>
          <p:cNvPr id="5" name="Content Placeholder 4" descr="Abstract background with a abstract digital graph">
            <a:extLst>
              <a:ext uri="{FF2B5EF4-FFF2-40B4-BE49-F238E27FC236}">
                <a16:creationId xmlns:a16="http://schemas.microsoft.com/office/drawing/2014/main" id="{C1F0226E-CAE7-41E8-850A-33E148F61434}"/>
              </a:ext>
            </a:extLst>
          </p:cNvPr>
          <p:cNvPicPr>
            <a:picLocks noGrp="1" noChangeAspect="1"/>
          </p:cNvPicPr>
          <p:nvPr>
            <p:ph type="pic" sz="quarter" idx="15"/>
          </p:nvPr>
        </p:nvPicPr>
        <p:blipFill>
          <a:blip r:embed="rId3"/>
          <a:srcRect l="17333" r="14754" b="233"/>
          <a:stretch>
            <a:fillRect/>
          </a:stretch>
        </p:blipFill>
        <p:spPr>
          <a:xfrm>
            <a:off x="1831674" y="2413958"/>
            <a:ext cx="4395508" cy="3628140"/>
          </a:xfrm>
          <a:prstGeom prst="rect">
            <a:avLst/>
          </a:prstGeom>
          <a:noFill/>
        </p:spPr>
      </p:pic>
      <p:sp>
        <p:nvSpPr>
          <p:cNvPr id="4" name="Content Placeholder 3">
            <a:extLst>
              <a:ext uri="{FF2B5EF4-FFF2-40B4-BE49-F238E27FC236}">
                <a16:creationId xmlns:a16="http://schemas.microsoft.com/office/drawing/2014/main" id="{871541A1-4466-4B1A-0608-1C30E15857B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93909" y="700177"/>
            <a:ext cx="5792341" cy="5465398"/>
          </a:xfrm>
        </p:spPr>
        <p:txBody>
          <a:bodyPr>
            <a:normAutofit/>
          </a:bodyPr>
          <a:lstStyle/>
          <a:p>
            <a:pPr marL="0" indent="0">
              <a:spcBef>
                <a:spcPts val="2500"/>
              </a:spcBef>
              <a:buFont typeface="Arial" panose="020B0604020202020204" pitchFamily="34" charset="0"/>
              <a:buNone/>
            </a:pPr>
            <a:r>
              <a:rPr lang="en-US" b="1"/>
              <a:t>Data Cleaning and Wrangling</a:t>
            </a:r>
          </a:p>
          <a:p>
            <a:pPr marL="0" lvl="1" indent="0">
              <a:buFont typeface="Arial" panose="020B0604020202020204" pitchFamily="34" charset="0"/>
              <a:buNone/>
            </a:pPr>
            <a:r>
              <a:t>Irrelevant columns were dropped, missing values replaced with column means, and data types corrected for accuracy.</a:t>
            </a:r>
            <a:endParaRPr lang="en-US"/>
          </a:p>
          <a:p>
            <a:pPr marL="0" indent="0">
              <a:spcBef>
                <a:spcPts val="2500"/>
              </a:spcBef>
              <a:buFont typeface="Arial" panose="020B0604020202020204" pitchFamily="34" charset="0"/>
              <a:buNone/>
            </a:pPr>
            <a:r>
              <a:rPr lang="en-US" b="1"/>
              <a:t>Exploratory Data Analysis</a:t>
            </a:r>
          </a:p>
          <a:p>
            <a:pPr marL="0" lvl="1" indent="0">
              <a:buFont typeface="Arial" panose="020B0604020202020204" pitchFamily="34" charset="0"/>
              <a:buNone/>
            </a:pPr>
            <a:r>
              <a:t>EDA was performed using Pandas, Seaborn, and Matplotlib to visualize feature distributions and correlations.</a:t>
            </a:r>
            <a:endParaRPr lang="en-US"/>
          </a:p>
          <a:p>
            <a:pPr marL="0" indent="0">
              <a:spcBef>
                <a:spcPts val="2500"/>
              </a:spcBef>
              <a:buFont typeface="Arial" panose="020B0604020202020204" pitchFamily="34" charset="0"/>
              <a:buNone/>
            </a:pPr>
            <a:r>
              <a:rPr lang="en-US" b="1"/>
              <a:t>Regression Model Development</a:t>
            </a:r>
          </a:p>
          <a:p>
            <a:pPr marL="0" lvl="1" indent="0">
              <a:buFont typeface="Arial" panose="020B0604020202020204" pitchFamily="34" charset="0"/>
              <a:buNone/>
            </a:pPr>
            <a:r>
              <a:t>Multiple regression models including Linear, Ridge, Lasso, Decision Tree, Random Forest, and XGBoost were developed.</a:t>
            </a:r>
            <a:endParaRPr lang="en-US"/>
          </a:p>
          <a:p>
            <a:pPr marL="0" indent="0">
              <a:spcBef>
                <a:spcPts val="2500"/>
              </a:spcBef>
              <a:buFont typeface="Arial" panose="020B0604020202020204" pitchFamily="34" charset="0"/>
              <a:buNone/>
            </a:pPr>
            <a:r>
              <a:rPr lang="en-US" b="1"/>
              <a:t>Model Optimization and Selection</a:t>
            </a:r>
          </a:p>
          <a:p>
            <a:pPr marL="0" lvl="1" indent="0">
              <a:buFont typeface="Arial" panose="020B0604020202020204" pitchFamily="34" charset="0"/>
              <a:buNone/>
            </a:pPr>
            <a:r>
              <a:t>GridSearchCV was used for hyperparameter tuning, and RandomForestRegressor was selected for its robustness and high R² score.</a:t>
            </a:r>
            <a:endParaRPr lang="en-US"/>
          </a:p>
        </p:txBody>
      </p:sp>
    </p:spTree>
    <p:extLst>
      <p:ext uri="{BB962C8B-B14F-4D97-AF65-F5344CB8AC3E}">
        <p14:creationId xmlns:p14="http://schemas.microsoft.com/office/powerpoint/2010/main" val="37947847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805B6-EF84-6C18-F241-71955E3A224C}"/>
              </a:ext>
            </a:extLst>
          </p:cNvPr>
          <p:cNvSpPr>
            <a:spLocks noGrp="1"/>
          </p:cNvSpPr>
          <p:nvPr>
            <p:ph type="ctrTitle"/>
          </p:nvPr>
        </p:nvSpPr>
        <p:spPr/>
        <p:txBody>
          <a:bodyPr anchor="b">
            <a:normAutofit/>
          </a:bodyPr>
          <a:lstStyle/>
          <a:p>
            <a:r>
              <a:rPr lang="en-US"/>
              <a:t>EDA Insights</a:t>
            </a:r>
          </a:p>
        </p:txBody>
      </p:sp>
    </p:spTree>
    <p:extLst>
      <p:ext uri="{BB962C8B-B14F-4D97-AF65-F5344CB8AC3E}">
        <p14:creationId xmlns:p14="http://schemas.microsoft.com/office/powerpoint/2010/main" val="16244567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619E2-2A6E-58BE-FC8B-655881F27613}"/>
              </a:ext>
            </a:extLst>
          </p:cNvPr>
          <p:cNvSpPr>
            <a:spLocks noGrp="1"/>
          </p:cNvSpPr>
          <p:nvPr>
            <p:ph type="title"/>
          </p:nvPr>
        </p:nvSpPr>
        <p:spPr>
          <a:xfrm>
            <a:off x="1529750" y="685800"/>
            <a:ext cx="4564763" cy="1426798"/>
          </a:xfrm>
        </p:spPr>
        <p:txBody>
          <a:bodyPr anchor="b">
            <a:normAutofit/>
          </a:bodyPr>
          <a:lstStyle/>
          <a:p>
            <a:r>
              <a:rPr lang="en-US" sz="3400"/>
              <a:t>Key Features Influencing House Prices</a:t>
            </a:r>
          </a:p>
        </p:txBody>
      </p:sp>
      <p:pic>
        <p:nvPicPr>
          <p:cNvPr id="5" name="Content Placeholder 4" descr="COVID-19 impact business and economy">
            <a:extLst>
              <a:ext uri="{FF2B5EF4-FFF2-40B4-BE49-F238E27FC236}">
                <a16:creationId xmlns:a16="http://schemas.microsoft.com/office/drawing/2014/main" id="{9E6DF3ED-AD5B-47D6-B2D0-6BBAB3038E63}"/>
              </a:ext>
            </a:extLst>
          </p:cNvPr>
          <p:cNvPicPr>
            <a:picLocks noGrp="1" noChangeAspect="1"/>
          </p:cNvPicPr>
          <p:nvPr>
            <p:ph type="pic" sz="quarter" idx="15"/>
          </p:nvPr>
        </p:nvPicPr>
        <p:blipFill>
          <a:blip r:embed="rId3"/>
          <a:srcRect l="14706" r="14706"/>
          <a:stretch/>
        </p:blipFill>
        <p:spPr>
          <a:xfrm>
            <a:off x="1515373" y="2370826"/>
            <a:ext cx="4564763" cy="3636598"/>
          </a:xfrm>
          <a:prstGeom prst="rect">
            <a:avLst/>
          </a:prstGeom>
          <a:noFill/>
        </p:spPr>
      </p:pic>
      <p:sp>
        <p:nvSpPr>
          <p:cNvPr id="4" name="Content Placeholder 3">
            <a:extLst>
              <a:ext uri="{FF2B5EF4-FFF2-40B4-BE49-F238E27FC236}">
                <a16:creationId xmlns:a16="http://schemas.microsoft.com/office/drawing/2014/main" id="{B23E7363-E222-4712-9A96-EDAC7397FEA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1985" y="685800"/>
            <a:ext cx="5792341" cy="5465398"/>
          </a:xfrm>
        </p:spPr>
        <p:txBody>
          <a:bodyPr>
            <a:normAutofit/>
          </a:bodyPr>
          <a:lstStyle/>
          <a:p>
            <a:pPr marL="0" indent="0">
              <a:spcBef>
                <a:spcPts val="2500"/>
              </a:spcBef>
              <a:buFont typeface="Arial" panose="020B0604020202020204" pitchFamily="34" charset="0"/>
              <a:buNone/>
            </a:pPr>
            <a:r>
              <a:rPr lang="en-US" b="1"/>
              <a:t>Influential Features</a:t>
            </a:r>
          </a:p>
          <a:p>
            <a:pPr marL="0" lvl="1" indent="0">
              <a:buFont typeface="Arial" panose="020B0604020202020204" pitchFamily="34" charset="0"/>
              <a:buNone/>
            </a:pPr>
            <a:r>
              <a:t>Square footage and overall grade are the most influential factors affecting house prices.</a:t>
            </a:r>
            <a:endParaRPr lang="en-US"/>
          </a:p>
          <a:p>
            <a:pPr marL="0" indent="0">
              <a:spcBef>
                <a:spcPts val="2500"/>
              </a:spcBef>
              <a:buFont typeface="Arial" panose="020B0604020202020204" pitchFamily="34" charset="0"/>
              <a:buNone/>
            </a:pPr>
            <a:r>
              <a:rPr lang="en-US" b="1"/>
              <a:t>Waterfront Premium</a:t>
            </a:r>
          </a:p>
          <a:p>
            <a:pPr marL="0" lvl="1" indent="0">
              <a:buFont typeface="Arial" panose="020B0604020202020204" pitchFamily="34" charset="0"/>
              <a:buNone/>
            </a:pPr>
            <a:r>
              <a:t>Homes with waterfront views are significantly more expensive than others without such views.</a:t>
            </a:r>
            <a:endParaRPr lang="en-US"/>
          </a:p>
          <a:p>
            <a:pPr marL="0" indent="0">
              <a:spcBef>
                <a:spcPts val="2500"/>
              </a:spcBef>
              <a:buFont typeface="Arial" panose="020B0604020202020204" pitchFamily="34" charset="0"/>
              <a:buNone/>
            </a:pPr>
            <a:r>
              <a:rPr lang="en-US" b="1"/>
              <a:t>Condition Impact</a:t>
            </a:r>
          </a:p>
          <a:p>
            <a:pPr marL="0" lvl="1" indent="0">
              <a:buFont typeface="Arial" panose="020B0604020202020204" pitchFamily="34" charset="0"/>
              <a:buNone/>
            </a:pPr>
            <a:r>
              <a:t>Condition of the house has less impact on price than initially expected.</a:t>
            </a:r>
            <a:endParaRPr lang="en-US"/>
          </a:p>
          <a:p>
            <a:pPr marL="0" indent="0">
              <a:spcBef>
                <a:spcPts val="2500"/>
              </a:spcBef>
              <a:buFont typeface="Arial" panose="020B0604020202020204" pitchFamily="34" charset="0"/>
              <a:buNone/>
            </a:pPr>
            <a:r>
              <a:rPr lang="en-US" b="1"/>
              <a:t>Additional Square Footage</a:t>
            </a:r>
          </a:p>
          <a:p>
            <a:pPr marL="0" lvl="1" indent="0">
              <a:buFont typeface="Arial" panose="020B0604020202020204" pitchFamily="34" charset="0"/>
              <a:buNone/>
            </a:pPr>
            <a:r>
              <a:t>Extra square footage excluding basement positively correlates with higher house prices.</a:t>
            </a:r>
            <a:endParaRPr lang="en-US"/>
          </a:p>
        </p:txBody>
      </p:sp>
    </p:spTree>
    <p:extLst>
      <p:ext uri="{BB962C8B-B14F-4D97-AF65-F5344CB8AC3E}">
        <p14:creationId xmlns:p14="http://schemas.microsoft.com/office/powerpoint/2010/main" val="18312575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BB0C2-6AAC-25DF-C8A0-8A8DEC85675D}"/>
              </a:ext>
            </a:extLst>
          </p:cNvPr>
          <p:cNvSpPr>
            <a:spLocks noGrp="1"/>
          </p:cNvSpPr>
          <p:nvPr>
            <p:ph type="ctrTitle"/>
          </p:nvPr>
        </p:nvSpPr>
        <p:spPr/>
        <p:txBody>
          <a:bodyPr anchor="b">
            <a:normAutofit/>
          </a:bodyPr>
          <a:lstStyle/>
          <a:p>
            <a:r>
              <a:rPr lang="en-US"/>
              <a:t>Model Development</a:t>
            </a:r>
          </a:p>
        </p:txBody>
      </p:sp>
    </p:spTree>
    <p:extLst>
      <p:ext uri="{BB962C8B-B14F-4D97-AF65-F5344CB8AC3E}">
        <p14:creationId xmlns:p14="http://schemas.microsoft.com/office/powerpoint/2010/main" val="17211773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C38A0-A0BF-03D0-4DC5-8D077DB473E1}"/>
              </a:ext>
            </a:extLst>
          </p:cNvPr>
          <p:cNvSpPr>
            <a:spLocks noGrp="1"/>
          </p:cNvSpPr>
          <p:nvPr>
            <p:ph type="title"/>
          </p:nvPr>
        </p:nvSpPr>
        <p:spPr>
          <a:xfrm>
            <a:off x="1659146" y="700177"/>
            <a:ext cx="4564763" cy="1426798"/>
          </a:xfrm>
        </p:spPr>
        <p:txBody>
          <a:bodyPr anchor="b">
            <a:normAutofit/>
          </a:bodyPr>
          <a:lstStyle/>
          <a:p>
            <a:r>
              <a:rPr lang="en-US" sz="3000"/>
              <a:t>Selected Model and Hyperparameter Tuning</a:t>
            </a:r>
          </a:p>
        </p:txBody>
      </p:sp>
      <p:pic>
        <p:nvPicPr>
          <p:cNvPr id="5" name="Content Placeholder 4" descr="Futuristic Holographic Terrain environment, geomorphology, topography and digital data telemetry information display motion graphic user interface head up display screen">
            <a:extLst>
              <a:ext uri="{FF2B5EF4-FFF2-40B4-BE49-F238E27FC236}">
                <a16:creationId xmlns:a16="http://schemas.microsoft.com/office/drawing/2014/main" id="{C6721F55-0B9E-4FCE-8876-9FADB0C1B350}"/>
              </a:ext>
            </a:extLst>
          </p:cNvPr>
          <p:cNvPicPr>
            <a:picLocks noGrp="1" noChangeAspect="1"/>
          </p:cNvPicPr>
          <p:nvPr>
            <p:ph type="pic" sz="quarter" idx="15"/>
          </p:nvPr>
        </p:nvPicPr>
        <p:blipFill>
          <a:blip r:embed="rId3"/>
          <a:srcRect l="14736" r="14736"/>
          <a:stretch/>
        </p:blipFill>
        <p:spPr>
          <a:xfrm>
            <a:off x="1659146" y="2385204"/>
            <a:ext cx="4564763" cy="3636598"/>
          </a:xfrm>
          <a:prstGeom prst="rect">
            <a:avLst/>
          </a:prstGeom>
          <a:noFill/>
        </p:spPr>
      </p:pic>
      <p:sp>
        <p:nvSpPr>
          <p:cNvPr id="4" name="Content Placeholder 3">
            <a:extLst>
              <a:ext uri="{FF2B5EF4-FFF2-40B4-BE49-F238E27FC236}">
                <a16:creationId xmlns:a16="http://schemas.microsoft.com/office/drawing/2014/main" id="{4429FDB9-6330-9D67-6DB6-701D4F17BAD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93909" y="800819"/>
            <a:ext cx="5792341" cy="5465398"/>
          </a:xfrm>
        </p:spPr>
        <p:txBody>
          <a:bodyPr>
            <a:normAutofit/>
          </a:bodyPr>
          <a:lstStyle/>
          <a:p>
            <a:pPr marL="0" indent="0">
              <a:spcBef>
                <a:spcPts val="2500"/>
              </a:spcBef>
              <a:buFont typeface="Arial" panose="020B0604020202020204" pitchFamily="34" charset="0"/>
              <a:buNone/>
            </a:pPr>
            <a:r>
              <a:rPr lang="en-US" b="1"/>
              <a:t>Model Selection</a:t>
            </a:r>
          </a:p>
          <a:p>
            <a:pPr marL="0" lvl="1" indent="0">
              <a:buFont typeface="Arial" panose="020B0604020202020204" pitchFamily="34" charset="0"/>
              <a:buNone/>
            </a:pPr>
            <a:r>
              <a:t>RandomForestRegressor was chosen due to its superior performance on the regression task.</a:t>
            </a:r>
            <a:endParaRPr lang="en-US"/>
          </a:p>
          <a:p>
            <a:pPr marL="0" indent="0">
              <a:spcBef>
                <a:spcPts val="2500"/>
              </a:spcBef>
              <a:buFont typeface="Arial" panose="020B0604020202020204" pitchFamily="34" charset="0"/>
              <a:buNone/>
            </a:pPr>
            <a:r>
              <a:rPr lang="en-US" b="1"/>
              <a:t>Hyperparameter Tuning</a:t>
            </a:r>
          </a:p>
          <a:p>
            <a:pPr marL="0" lvl="1" indent="0">
              <a:buFont typeface="Arial" panose="020B0604020202020204" pitchFamily="34" charset="0"/>
              <a:buNone/>
            </a:pPr>
            <a:r>
              <a:t>GridSearchCV identified optimal parameters: max_depth 30 and n_estimators 300 for best accuracy.</a:t>
            </a:r>
            <a:endParaRPr lang="en-US"/>
          </a:p>
          <a:p>
            <a:pPr marL="0" indent="0">
              <a:spcBef>
                <a:spcPts val="2500"/>
              </a:spcBef>
              <a:buFont typeface="Arial" panose="020B0604020202020204" pitchFamily="34" charset="0"/>
              <a:buNone/>
            </a:pPr>
            <a:r>
              <a:rPr lang="en-US" b="1"/>
              <a:t>Model Performance</a:t>
            </a:r>
          </a:p>
          <a:p>
            <a:pPr marL="0" lvl="1" indent="0">
              <a:buFont typeface="Arial" panose="020B0604020202020204" pitchFamily="34" charset="0"/>
              <a:buNone/>
            </a:pPr>
            <a:r>
              <a:t>Tuned model achieved R² score of 0.78, demonstrating improved prediction accuracy and robustness.</a:t>
            </a:r>
            <a:endParaRPr lang="en-US"/>
          </a:p>
          <a:p>
            <a:pPr marL="0" indent="0">
              <a:spcBef>
                <a:spcPts val="2500"/>
              </a:spcBef>
              <a:buFont typeface="Arial" panose="020B0604020202020204" pitchFamily="34" charset="0"/>
              <a:buNone/>
            </a:pPr>
            <a:r>
              <a:rPr lang="en-US" b="1"/>
              <a:t>Training and Testing Split</a:t>
            </a:r>
          </a:p>
          <a:p>
            <a:pPr marL="0" lvl="1" indent="0">
              <a:buFont typeface="Arial" panose="020B0604020202020204" pitchFamily="34" charset="0"/>
              <a:buNone/>
            </a:pPr>
            <a:r>
              <a:t>Model trained on 80% of data and tested on 20%, ensuring reliable evaluation of predictions.</a:t>
            </a:r>
            <a:endParaRPr lang="en-US"/>
          </a:p>
        </p:txBody>
      </p:sp>
    </p:spTree>
    <p:extLst>
      <p:ext uri="{BB962C8B-B14F-4D97-AF65-F5344CB8AC3E}">
        <p14:creationId xmlns:p14="http://schemas.microsoft.com/office/powerpoint/2010/main" val="18665817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B4DEB-4D09-6074-7CEC-A5F540CED6E1}"/>
              </a:ext>
            </a:extLst>
          </p:cNvPr>
          <p:cNvSpPr>
            <a:spLocks noGrp="1"/>
          </p:cNvSpPr>
          <p:nvPr>
            <p:ph type="ctrTitle"/>
          </p:nvPr>
        </p:nvSpPr>
        <p:spPr/>
        <p:txBody>
          <a:bodyPr anchor="b">
            <a:normAutofit/>
          </a:bodyPr>
          <a:lstStyle/>
          <a:p>
            <a:r>
              <a:rPr lang="en-US"/>
              <a:t>Model Comparison</a:t>
            </a:r>
          </a:p>
        </p:txBody>
      </p:sp>
    </p:spTree>
    <p:extLst>
      <p:ext uri="{BB962C8B-B14F-4D97-AF65-F5344CB8AC3E}">
        <p14:creationId xmlns:p14="http://schemas.microsoft.com/office/powerpoint/2010/main" val="3236613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C3A71-4399-A0E0-36F6-A87FA31B69BB}"/>
              </a:ext>
            </a:extLst>
          </p:cNvPr>
          <p:cNvSpPr>
            <a:spLocks noGrp="1"/>
          </p:cNvSpPr>
          <p:nvPr>
            <p:ph type="title"/>
          </p:nvPr>
        </p:nvSpPr>
        <p:spPr/>
        <p:txBody>
          <a:bodyPr anchor="b">
            <a:normAutofit/>
          </a:bodyPr>
          <a:lstStyle/>
          <a:p>
            <a:r>
              <a:rPr lang="en-US" sz="3800"/>
              <a:t>Performance of Regression Models</a:t>
            </a:r>
          </a:p>
        </p:txBody>
      </p:sp>
      <p:pic>
        <p:nvPicPr>
          <p:cNvPr id="5" name="Content Placeholder 4" descr="Concept - House sales up in form of bar graph.">
            <a:extLst>
              <a:ext uri="{FF2B5EF4-FFF2-40B4-BE49-F238E27FC236}">
                <a16:creationId xmlns:a16="http://schemas.microsoft.com/office/drawing/2014/main" id="{2E67CA01-10B6-4E6C-86BE-5FF6195F53A9}"/>
              </a:ext>
            </a:extLst>
          </p:cNvPr>
          <p:cNvPicPr>
            <a:picLocks noGrp="1" noChangeAspect="1"/>
          </p:cNvPicPr>
          <p:nvPr>
            <p:ph type="pic" sz="quarter" idx="13"/>
          </p:nvPr>
        </p:nvPicPr>
        <p:blipFill>
          <a:blip r:embed="rId3"/>
          <a:srcRect l="12659" r="12659"/>
          <a:stretch/>
        </p:blipFill>
        <p:spPr>
          <a:prstGeom prst="rect">
            <a:avLst/>
          </a:prstGeom>
          <a:noFill/>
        </p:spPr>
      </p:pic>
      <p:sp>
        <p:nvSpPr>
          <p:cNvPr id="4" name="Content Placeholder 3">
            <a:extLst>
              <a:ext uri="{FF2B5EF4-FFF2-40B4-BE49-F238E27FC236}">
                <a16:creationId xmlns:a16="http://schemas.microsoft.com/office/drawing/2014/main" id="{89D05923-3D2F-F7D2-5EFE-AAA056A9991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spcBef>
                <a:spcPts val="2500"/>
              </a:spcBef>
              <a:buFont typeface="Arial" panose="020B0604020202020204" pitchFamily="34" charset="0"/>
              <a:buNone/>
            </a:pPr>
            <a:r>
              <a:rPr lang="en-US" b="1"/>
              <a:t>Baseline Regression Models</a:t>
            </a:r>
          </a:p>
          <a:p>
            <a:pPr marL="0" lvl="1" indent="0">
              <a:buFont typeface="Arial" panose="020B0604020202020204" pitchFamily="34" charset="0"/>
              <a:buNone/>
            </a:pPr>
            <a:r>
              <a:t>Linear, Ridge, and Lasso regression models provided baseline predictive performance for house prices.</a:t>
            </a:r>
            <a:endParaRPr lang="en-US"/>
          </a:p>
          <a:p>
            <a:pPr marL="0" indent="0">
              <a:spcBef>
                <a:spcPts val="2500"/>
              </a:spcBef>
              <a:buFont typeface="Arial" panose="020B0604020202020204" pitchFamily="34" charset="0"/>
              <a:buNone/>
            </a:pPr>
            <a:r>
              <a:rPr lang="en-US" b="1"/>
              <a:t>Improved Model Performance</a:t>
            </a:r>
          </a:p>
          <a:p>
            <a:pPr marL="0" lvl="1" indent="0">
              <a:buFont typeface="Arial" panose="020B0604020202020204" pitchFamily="34" charset="0"/>
              <a:buNone/>
            </a:pPr>
            <a:r>
              <a:t>Decision Tree and XGBoost models showed moderate improvements over baseline regression models.</a:t>
            </a:r>
            <a:endParaRPr lang="en-US"/>
          </a:p>
          <a:p>
            <a:pPr marL="0" indent="0">
              <a:spcBef>
                <a:spcPts val="2500"/>
              </a:spcBef>
              <a:buFont typeface="Arial" panose="020B0604020202020204" pitchFamily="34" charset="0"/>
              <a:buNone/>
            </a:pPr>
            <a:r>
              <a:rPr lang="en-US" b="1"/>
              <a:t>Top Performing Model</a:t>
            </a:r>
          </a:p>
          <a:p>
            <a:pPr marL="0" lvl="1" indent="0">
              <a:buFont typeface="Arial" panose="020B0604020202020204" pitchFamily="34" charset="0"/>
              <a:buNone/>
            </a:pPr>
            <a:r>
              <a:t>Random Forest achieved the highest R² score of 0.78, outperforming all other tested models.</a:t>
            </a:r>
            <a:endParaRPr lang="en-US"/>
          </a:p>
          <a:p>
            <a:pPr marL="0" indent="0">
              <a:spcBef>
                <a:spcPts val="2500"/>
              </a:spcBef>
              <a:buFont typeface="Arial" panose="020B0604020202020204" pitchFamily="34" charset="0"/>
              <a:buNone/>
            </a:pPr>
            <a:r>
              <a:rPr lang="en-US" b="1"/>
              <a:t>Model Selection Importance</a:t>
            </a:r>
          </a:p>
          <a:p>
            <a:pPr marL="0" lvl="1" indent="0">
              <a:buFont typeface="Arial" panose="020B0604020202020204" pitchFamily="34" charset="0"/>
              <a:buNone/>
            </a:pPr>
            <a:r>
              <a:t>Selecting and tuning the right model is crucial for accurate house price prediction.</a:t>
            </a:r>
            <a:endParaRPr lang="en-US"/>
          </a:p>
        </p:txBody>
      </p:sp>
    </p:spTree>
    <p:extLst>
      <p:ext uri="{BB962C8B-B14F-4D97-AF65-F5344CB8AC3E}">
        <p14:creationId xmlns:p14="http://schemas.microsoft.com/office/powerpoint/2010/main" val="9408405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7F396-E085-A290-E234-AB194003BD7E}"/>
              </a:ext>
            </a:extLst>
          </p:cNvPr>
          <p:cNvSpPr>
            <a:spLocks noGrp="1"/>
          </p:cNvSpPr>
          <p:nvPr>
            <p:ph type="ctrTitle"/>
          </p:nvPr>
        </p:nvSpPr>
        <p:spPr/>
        <p:txBody>
          <a:bodyPr anchor="b">
            <a:normAutofit/>
          </a:bodyPr>
          <a:lstStyle/>
          <a:p>
            <a:r>
              <a:rPr lang="en-US"/>
              <a:t>Deployment</a:t>
            </a:r>
          </a:p>
        </p:txBody>
      </p:sp>
    </p:spTree>
    <p:extLst>
      <p:ext uri="{BB962C8B-B14F-4D97-AF65-F5344CB8AC3E}">
        <p14:creationId xmlns:p14="http://schemas.microsoft.com/office/powerpoint/2010/main" val="2823333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9FE9D-48BB-0722-A19C-40E3026DBA8D}"/>
              </a:ext>
            </a:extLst>
          </p:cNvPr>
          <p:cNvSpPr>
            <a:spLocks noGrp="1"/>
          </p:cNvSpPr>
          <p:nvPr>
            <p:ph type="title"/>
          </p:nvPr>
        </p:nvSpPr>
        <p:spPr>
          <a:xfrm>
            <a:off x="1817297" y="800819"/>
            <a:ext cx="4564763" cy="1426798"/>
          </a:xfrm>
        </p:spPr>
        <p:txBody>
          <a:bodyPr anchor="b">
            <a:normAutofit/>
          </a:bodyPr>
          <a:lstStyle/>
          <a:p>
            <a:r>
              <a:rPr lang="en-US" sz="3800"/>
              <a:t>Web Application and Hosting</a:t>
            </a:r>
          </a:p>
        </p:txBody>
      </p:sp>
      <p:pic>
        <p:nvPicPr>
          <p:cNvPr id="5" name="Content Placeholder 4" descr="Cloud computing digital concept">
            <a:extLst>
              <a:ext uri="{FF2B5EF4-FFF2-40B4-BE49-F238E27FC236}">
                <a16:creationId xmlns:a16="http://schemas.microsoft.com/office/drawing/2014/main" id="{260092E4-A0DE-482F-BAD3-AD2D6B9006BD}"/>
              </a:ext>
            </a:extLst>
          </p:cNvPr>
          <p:cNvPicPr>
            <a:picLocks noGrp="1" noChangeAspect="1"/>
          </p:cNvPicPr>
          <p:nvPr>
            <p:ph type="pic" sz="quarter" idx="15"/>
          </p:nvPr>
        </p:nvPicPr>
        <p:blipFill>
          <a:blip r:embed="rId3"/>
          <a:srcRect l="14706" r="14706"/>
          <a:stretch/>
        </p:blipFill>
        <p:spPr>
          <a:xfrm>
            <a:off x="1817297" y="2528977"/>
            <a:ext cx="4564763" cy="3636598"/>
          </a:xfrm>
          <a:prstGeom prst="rect">
            <a:avLst/>
          </a:prstGeom>
          <a:noFill/>
        </p:spPr>
      </p:pic>
      <p:sp>
        <p:nvSpPr>
          <p:cNvPr id="4" name="Content Placeholder 3">
            <a:extLst>
              <a:ext uri="{FF2B5EF4-FFF2-40B4-BE49-F238E27FC236}">
                <a16:creationId xmlns:a16="http://schemas.microsoft.com/office/drawing/2014/main" id="{C1B92B5C-6DF6-0A54-3632-1E755A55540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93909" y="700177"/>
            <a:ext cx="5792341" cy="5465398"/>
          </a:xfrm>
        </p:spPr>
        <p:txBody>
          <a:bodyPr>
            <a:normAutofit/>
          </a:bodyPr>
          <a:lstStyle/>
          <a:p>
            <a:pPr marL="0" indent="0">
              <a:spcBef>
                <a:spcPts val="2500"/>
              </a:spcBef>
              <a:buFont typeface="Arial" panose="020B0604020202020204" pitchFamily="34" charset="0"/>
              <a:buNone/>
            </a:pPr>
            <a:r>
              <a:rPr lang="en-US" b="1"/>
              <a:t>Interactive Web Application</a:t>
            </a:r>
          </a:p>
          <a:p>
            <a:pPr marL="0" lvl="1" indent="0">
              <a:buFont typeface="Arial" panose="020B0604020202020204" pitchFamily="34" charset="0"/>
              <a:buNone/>
            </a:pPr>
            <a:r>
              <a:t>The model was deployed as a Streamlit web app allowing users to input data and get real-time predictions.</a:t>
            </a:r>
            <a:endParaRPr lang="en-US"/>
          </a:p>
          <a:p>
            <a:pPr marL="0" indent="0">
              <a:spcBef>
                <a:spcPts val="2500"/>
              </a:spcBef>
              <a:buFont typeface="Arial" panose="020B0604020202020204" pitchFamily="34" charset="0"/>
              <a:buNone/>
            </a:pPr>
            <a:r>
              <a:rPr lang="en-US" b="1"/>
              <a:t>Model Storage and Access</a:t>
            </a:r>
          </a:p>
          <a:p>
            <a:pPr marL="0" lvl="1" indent="0">
              <a:buFont typeface="Arial" panose="020B0604020202020204" pitchFamily="34" charset="0"/>
              <a:buNone/>
            </a:pPr>
            <a:r>
              <a:t>The machine learning model is stored on Google Drive and accessed using Python libraries like requests and joblib.</a:t>
            </a:r>
            <a:endParaRPr lang="en-US"/>
          </a:p>
          <a:p>
            <a:pPr marL="0" indent="0">
              <a:spcBef>
                <a:spcPts val="2500"/>
              </a:spcBef>
              <a:buFont typeface="Arial" panose="020B0604020202020204" pitchFamily="34" charset="0"/>
              <a:buNone/>
            </a:pPr>
            <a:r>
              <a:rPr lang="en-US" b="1"/>
              <a:t>Code Management and Hosting</a:t>
            </a:r>
          </a:p>
          <a:p>
            <a:pPr marL="0" lvl="1" indent="0">
              <a:buFont typeface="Arial" panose="020B0604020202020204" pitchFamily="34" charset="0"/>
              <a:buNone/>
            </a:pPr>
            <a:r>
              <a:t>Application code is maintained in GitHub and hosted publicly on Streamlit Cloud for accessibility and collaboration.</a:t>
            </a:r>
            <a:endParaRPr lang="en-US"/>
          </a:p>
          <a:p>
            <a:pPr marL="0" indent="0">
              <a:spcBef>
                <a:spcPts val="2500"/>
              </a:spcBef>
              <a:buFont typeface="Arial" panose="020B0604020202020204" pitchFamily="34" charset="0"/>
              <a:buNone/>
            </a:pPr>
            <a:r>
              <a:rPr lang="en-US" b="1"/>
              <a:t>Stakeholder Accessibility</a:t>
            </a:r>
          </a:p>
          <a:p>
            <a:pPr marL="0" lvl="1" indent="0">
              <a:buFont typeface="Arial" panose="020B0604020202020204" pitchFamily="34" charset="0"/>
              <a:buNone/>
            </a:pPr>
            <a:r>
              <a:t>Hosting ensures stakeholders can easily access the app to make informed investment decisions using model outputs.</a:t>
            </a:r>
            <a:endParaRPr lang="en-US"/>
          </a:p>
        </p:txBody>
      </p:sp>
    </p:spTree>
    <p:extLst>
      <p:ext uri="{BB962C8B-B14F-4D97-AF65-F5344CB8AC3E}">
        <p14:creationId xmlns:p14="http://schemas.microsoft.com/office/powerpoint/2010/main" val="24098435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00BB8-C39D-C53C-285F-8A2F11F58780}"/>
              </a:ext>
            </a:extLst>
          </p:cNvPr>
          <p:cNvSpPr>
            <a:spLocks noGrp="1"/>
          </p:cNvSpPr>
          <p:nvPr>
            <p:ph type="ctrTitle"/>
          </p:nvPr>
        </p:nvSpPr>
        <p:spPr/>
        <p:txBody>
          <a:bodyPr anchor="b">
            <a:normAutofit/>
          </a:bodyPr>
          <a:lstStyle/>
          <a:p>
            <a:r>
              <a:rPr lang="en-US"/>
              <a:t>Key Findings</a:t>
            </a:r>
          </a:p>
        </p:txBody>
      </p:sp>
    </p:spTree>
    <p:extLst>
      <p:ext uri="{BB962C8B-B14F-4D97-AF65-F5344CB8AC3E}">
        <p14:creationId xmlns:p14="http://schemas.microsoft.com/office/powerpoint/2010/main" val="3042470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BB13E-6E8C-9B5B-338C-D6B74D2659E8}"/>
              </a:ext>
            </a:extLst>
          </p:cNvPr>
          <p:cNvSpPr>
            <a:spLocks noGrp="1"/>
          </p:cNvSpPr>
          <p:nvPr>
            <p:ph type="title"/>
          </p:nvPr>
        </p:nvSpPr>
        <p:spPr>
          <a:xfrm>
            <a:off x="1043968" y="613913"/>
            <a:ext cx="6858000" cy="1111532"/>
          </a:xfrm>
        </p:spPr>
        <p:txBody>
          <a:bodyPr anchor="b">
            <a:normAutofit/>
          </a:bodyPr>
          <a:lstStyle/>
          <a:p>
            <a:r>
              <a:rPr lang="en-US" sz="3800"/>
              <a:t>Insights for Real Estate Investment</a:t>
            </a:r>
          </a:p>
        </p:txBody>
      </p:sp>
      <p:sp>
        <p:nvSpPr>
          <p:cNvPr id="4" name="Content Placeholder 3">
            <a:extLst>
              <a:ext uri="{FF2B5EF4-FFF2-40B4-BE49-F238E27FC236}">
                <a16:creationId xmlns:a16="http://schemas.microsoft.com/office/drawing/2014/main" id="{01DCC8D8-31E0-3323-D443-B31390009F9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230873" y="1793432"/>
            <a:ext cx="6858000" cy="4200198"/>
          </a:xfrm>
        </p:spPr>
        <p:txBody>
          <a:bodyPr>
            <a:normAutofit/>
          </a:bodyPr>
          <a:lstStyle/>
          <a:p>
            <a:pPr marL="0" indent="0">
              <a:spcBef>
                <a:spcPts val="2500"/>
              </a:spcBef>
              <a:buFont typeface="Arial" panose="020B0604020202020204" pitchFamily="34" charset="0"/>
              <a:buNone/>
            </a:pPr>
            <a:r>
              <a:rPr lang="en-US" b="1"/>
              <a:t>Key Price Predictors</a:t>
            </a:r>
          </a:p>
          <a:p>
            <a:pPr marL="0" lvl="1" indent="0">
              <a:buFont typeface="Arial" panose="020B0604020202020204" pitchFamily="34" charset="0"/>
              <a:buNone/>
            </a:pPr>
            <a:r>
              <a:t>Square footage and housing grade are the strongest factors influencing property prices for investors.</a:t>
            </a:r>
            <a:endParaRPr lang="en-US"/>
          </a:p>
          <a:p>
            <a:pPr marL="0" indent="0">
              <a:spcBef>
                <a:spcPts val="2500"/>
              </a:spcBef>
              <a:buFont typeface="Arial" panose="020B0604020202020204" pitchFamily="34" charset="0"/>
              <a:buNone/>
            </a:pPr>
            <a:r>
              <a:rPr lang="en-US" b="1"/>
              <a:t>Impact of Waterfront Views</a:t>
            </a:r>
          </a:p>
          <a:p>
            <a:pPr marL="0" lvl="1" indent="0">
              <a:buFont typeface="Arial" panose="020B0604020202020204" pitchFamily="34" charset="0"/>
              <a:buNone/>
            </a:pPr>
            <a:r>
              <a:t>Properties with waterfront views command higher values, significantly boosting investment potential.</a:t>
            </a:r>
            <a:endParaRPr lang="en-US"/>
          </a:p>
          <a:p>
            <a:pPr marL="0" indent="0">
              <a:spcBef>
                <a:spcPts val="2500"/>
              </a:spcBef>
              <a:buFont typeface="Arial" panose="020B0604020202020204" pitchFamily="34" charset="0"/>
              <a:buNone/>
            </a:pPr>
            <a:r>
              <a:rPr lang="en-US" b="1"/>
              <a:t>Minimal Effect of House Condition</a:t>
            </a:r>
          </a:p>
          <a:p>
            <a:pPr marL="0" lvl="1" indent="0">
              <a:buFont typeface="Arial" panose="020B0604020202020204" pitchFamily="34" charset="0"/>
              <a:buNone/>
            </a:pPr>
            <a:r>
              <a:t>Surprisingly, the house's condition has little impact on price according to the investment model.</a:t>
            </a:r>
            <a:endParaRPr lang="en-US"/>
          </a:p>
          <a:p>
            <a:pPr marL="0" indent="0">
              <a:spcBef>
                <a:spcPts val="2500"/>
              </a:spcBef>
              <a:buFont typeface="Arial" panose="020B0604020202020204" pitchFamily="34" charset="0"/>
              <a:buNone/>
            </a:pPr>
            <a:r>
              <a:rPr lang="en-US" b="1"/>
              <a:t>Model for Investment Decisions</a:t>
            </a:r>
          </a:p>
          <a:p>
            <a:pPr marL="0" lvl="1" indent="0">
              <a:buFont typeface="Arial" panose="020B0604020202020204" pitchFamily="34" charset="0"/>
              <a:buNone/>
            </a:pPr>
            <a:r>
              <a:t>The analytical model aids investors in estimating prices and identifying valuable real estate opportunities.</a:t>
            </a:r>
            <a:endParaRPr lang="en-US"/>
          </a:p>
        </p:txBody>
      </p:sp>
      <p:pic>
        <p:nvPicPr>
          <p:cNvPr id="5" name="Content Placeholder 4" descr="background">
            <a:extLst>
              <a:ext uri="{FF2B5EF4-FFF2-40B4-BE49-F238E27FC236}">
                <a16:creationId xmlns:a16="http://schemas.microsoft.com/office/drawing/2014/main" id="{AB619C83-3C77-4E93-97E0-46BFB865280C}"/>
              </a:ext>
            </a:extLst>
          </p:cNvPr>
          <p:cNvPicPr>
            <a:picLocks noGrp="1" noChangeAspect="1"/>
          </p:cNvPicPr>
          <p:nvPr>
            <p:ph type="pic" sz="quarter" idx="13"/>
          </p:nvPr>
        </p:nvPicPr>
        <p:blipFill>
          <a:blip r:embed="rId3"/>
          <a:srcRect l="30133" r="30133"/>
          <a:stretch/>
        </p:blipFill>
        <p:spPr>
          <a:prstGeom prst="rect">
            <a:avLst/>
          </a:prstGeom>
          <a:noFill/>
        </p:spPr>
      </p:pic>
    </p:spTree>
    <p:extLst>
      <p:ext uri="{BB962C8B-B14F-4D97-AF65-F5344CB8AC3E}">
        <p14:creationId xmlns:p14="http://schemas.microsoft.com/office/powerpoint/2010/main" val="41725713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7AFE0-A155-E271-E2F2-A050F3B95F41}"/>
              </a:ext>
            </a:extLst>
          </p:cNvPr>
          <p:cNvSpPr>
            <a:spLocks noGrp="1"/>
          </p:cNvSpPr>
          <p:nvPr>
            <p:ph type="ctrTitle"/>
          </p:nvPr>
        </p:nvSpPr>
        <p:spPr/>
        <p:txBody>
          <a:bodyPr anchor="b">
            <a:normAutofit/>
          </a:bodyPr>
          <a:lstStyle/>
          <a:p>
            <a:r>
              <a:rPr lang="en-US"/>
              <a:t>Conclusion</a:t>
            </a:r>
          </a:p>
        </p:txBody>
      </p:sp>
    </p:spTree>
    <p:extLst>
      <p:ext uri="{BB962C8B-B14F-4D97-AF65-F5344CB8AC3E}">
        <p14:creationId xmlns:p14="http://schemas.microsoft.com/office/powerpoint/2010/main" val="37516534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45A98-9D2C-21DB-4B22-1EE176AB4375}"/>
              </a:ext>
            </a:extLst>
          </p:cNvPr>
          <p:cNvSpPr>
            <a:spLocks noGrp="1"/>
          </p:cNvSpPr>
          <p:nvPr>
            <p:ph type="title"/>
          </p:nvPr>
        </p:nvSpPr>
        <p:spPr/>
        <p:txBody>
          <a:bodyPr anchor="b">
            <a:normAutofit/>
          </a:bodyPr>
          <a:lstStyle/>
          <a:p>
            <a:r>
              <a:rPr lang="en-US" sz="3400"/>
              <a:t>Project Summary and Future Scope</a:t>
            </a:r>
          </a:p>
        </p:txBody>
      </p:sp>
      <p:pic>
        <p:nvPicPr>
          <p:cNvPr id="5" name="Content Placeholder 4" descr="Female hand holding new house">
            <a:extLst>
              <a:ext uri="{FF2B5EF4-FFF2-40B4-BE49-F238E27FC236}">
                <a16:creationId xmlns:a16="http://schemas.microsoft.com/office/drawing/2014/main" id="{F2BAF6F5-0E76-456B-B2A6-48B9FE1C4EC4}"/>
              </a:ext>
            </a:extLst>
          </p:cNvPr>
          <p:cNvPicPr>
            <a:picLocks noGrp="1" noChangeAspect="1"/>
          </p:cNvPicPr>
          <p:nvPr>
            <p:ph type="pic" sz="quarter" idx="15"/>
          </p:nvPr>
        </p:nvPicPr>
        <p:blipFill>
          <a:blip r:embed="rId3"/>
          <a:srcRect l="18950" r="18950"/>
          <a:stretch/>
        </p:blipFill>
        <p:spPr>
          <a:prstGeom prst="rect">
            <a:avLst/>
          </a:prstGeom>
          <a:noFill/>
        </p:spPr>
      </p:pic>
      <p:sp>
        <p:nvSpPr>
          <p:cNvPr id="4" name="Content Placeholder 3">
            <a:extLst>
              <a:ext uri="{FF2B5EF4-FFF2-40B4-BE49-F238E27FC236}">
                <a16:creationId xmlns:a16="http://schemas.microsoft.com/office/drawing/2014/main" id="{DD2DC248-18C7-3DCB-09B6-49FEA2C3010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spcBef>
                <a:spcPts val="2500"/>
              </a:spcBef>
              <a:buFont typeface="Arial" panose="020B0604020202020204" pitchFamily="34" charset="0"/>
              <a:buNone/>
            </a:pPr>
            <a:r>
              <a:rPr lang="en-US" b="1"/>
              <a:t>Model Development and Performance</a:t>
            </a:r>
          </a:p>
          <a:p>
            <a:pPr marL="0" lvl="1" indent="0">
              <a:buFont typeface="Arial" panose="020B0604020202020204" pitchFamily="34" charset="0"/>
              <a:buNone/>
            </a:pPr>
            <a:r>
              <a:t>A RandomForestRegressor model was developed with an R² score of 0.78, offering reliable house price predictions.</a:t>
            </a:r>
            <a:endParaRPr lang="en-US"/>
          </a:p>
          <a:p>
            <a:pPr marL="0" indent="0">
              <a:spcBef>
                <a:spcPts val="2500"/>
              </a:spcBef>
              <a:buFont typeface="Arial" panose="020B0604020202020204" pitchFamily="34" charset="0"/>
              <a:buNone/>
            </a:pPr>
            <a:r>
              <a:rPr lang="en-US" b="1"/>
              <a:t>Insights for Investment</a:t>
            </a:r>
          </a:p>
          <a:p>
            <a:pPr marL="0" lvl="1" indent="0">
              <a:buFont typeface="Arial" panose="020B0604020202020204" pitchFamily="34" charset="0"/>
              <a:buNone/>
            </a:pPr>
            <a:r>
              <a:t>Exploratory data analysis and model evaluation provided insights to support strategic investment decisions in housing market.</a:t>
            </a:r>
            <a:endParaRPr lang="en-US"/>
          </a:p>
          <a:p>
            <a:pPr marL="0" indent="0">
              <a:spcBef>
                <a:spcPts val="2500"/>
              </a:spcBef>
              <a:buFont typeface="Arial" panose="020B0604020202020204" pitchFamily="34" charset="0"/>
              <a:buNone/>
            </a:pPr>
            <a:r>
              <a:rPr lang="en-US" b="1"/>
              <a:t>Future Enhancements</a:t>
            </a:r>
          </a:p>
          <a:p>
            <a:pPr marL="0" lvl="1" indent="0">
              <a:buFont typeface="Arial" panose="020B0604020202020204" pitchFamily="34" charset="0"/>
              <a:buNone/>
            </a:pPr>
            <a:r>
              <a:t>Future scope includes adding features, exploring advanced models like deep learning, and integrating real-time dynamic data.</a:t>
            </a:r>
            <a:endParaRPr lang="en-US"/>
          </a:p>
        </p:txBody>
      </p:sp>
    </p:spTree>
    <p:extLst>
      <p:ext uri="{BB962C8B-B14F-4D97-AF65-F5344CB8AC3E}">
        <p14:creationId xmlns:p14="http://schemas.microsoft.com/office/powerpoint/2010/main" val="22402148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B9C4B-7041-A6B3-D7F5-477BF518FB4D}"/>
              </a:ext>
            </a:extLst>
          </p:cNvPr>
          <p:cNvSpPr>
            <a:spLocks noGrp="1"/>
          </p:cNvSpPr>
          <p:nvPr>
            <p:ph type="ctrTitle"/>
          </p:nvPr>
        </p:nvSpPr>
        <p:spPr/>
        <p:txBody>
          <a:bodyPr anchor="b">
            <a:normAutofit/>
          </a:bodyPr>
          <a:lstStyle/>
          <a:p>
            <a:r>
              <a:rPr lang="en-US"/>
              <a:t>Appendix</a:t>
            </a:r>
          </a:p>
        </p:txBody>
      </p:sp>
    </p:spTree>
    <p:extLst>
      <p:ext uri="{BB962C8B-B14F-4D97-AF65-F5344CB8AC3E}">
        <p14:creationId xmlns:p14="http://schemas.microsoft.com/office/powerpoint/2010/main" val="4168797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52C68-9597-1DB5-5561-76C7B1521A43}"/>
              </a:ext>
            </a:extLst>
          </p:cNvPr>
          <p:cNvSpPr>
            <a:spLocks noGrp="1"/>
          </p:cNvSpPr>
          <p:nvPr>
            <p:ph type="title"/>
          </p:nvPr>
        </p:nvSpPr>
        <p:spPr>
          <a:xfrm>
            <a:off x="1230873" y="455762"/>
            <a:ext cx="6858000" cy="1111532"/>
          </a:xfrm>
        </p:spPr>
        <p:txBody>
          <a:bodyPr anchor="b">
            <a:normAutofit/>
          </a:bodyPr>
          <a:lstStyle/>
          <a:p>
            <a:r>
              <a:rPr lang="en-US" sz="3800"/>
              <a:t>Technical Details and Tools Used</a:t>
            </a:r>
          </a:p>
        </p:txBody>
      </p:sp>
      <p:sp>
        <p:nvSpPr>
          <p:cNvPr id="4" name="Content Placeholder 3">
            <a:extLst>
              <a:ext uri="{FF2B5EF4-FFF2-40B4-BE49-F238E27FC236}">
                <a16:creationId xmlns:a16="http://schemas.microsoft.com/office/drawing/2014/main" id="{7BEDC6BB-452B-BBF8-6D6B-71E455722A9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230873" y="1721545"/>
            <a:ext cx="6858000" cy="4200198"/>
          </a:xfrm>
        </p:spPr>
        <p:txBody>
          <a:bodyPr>
            <a:normAutofit/>
          </a:bodyPr>
          <a:lstStyle/>
          <a:p>
            <a:pPr marL="0" indent="0">
              <a:spcBef>
                <a:spcPts val="2500"/>
              </a:spcBef>
              <a:buFont typeface="Arial" panose="020B0604020202020204" pitchFamily="34" charset="0"/>
              <a:buNone/>
            </a:pPr>
            <a:r>
              <a:rPr lang="en-US" b="1"/>
              <a:t>Dataset Overview</a:t>
            </a:r>
          </a:p>
          <a:p>
            <a:pPr marL="0" lvl="1" indent="0">
              <a:buFont typeface="Arial" panose="020B0604020202020204" pitchFamily="34" charset="0"/>
              <a:buNone/>
            </a:pPr>
            <a:r>
              <a:t>House sales data from USA between May 2014 and May 2015 includes features like square footage and waterfront view.</a:t>
            </a:r>
            <a:endParaRPr lang="en-US"/>
          </a:p>
          <a:p>
            <a:pPr marL="0" indent="0">
              <a:spcBef>
                <a:spcPts val="2500"/>
              </a:spcBef>
              <a:buFont typeface="Arial" panose="020B0604020202020204" pitchFamily="34" charset="0"/>
              <a:buNone/>
            </a:pPr>
            <a:r>
              <a:rPr lang="en-US" b="1"/>
              <a:t>Data Preprocessing Steps</a:t>
            </a:r>
          </a:p>
          <a:p>
            <a:pPr marL="0" lvl="1" indent="0">
              <a:buFont typeface="Arial" panose="020B0604020202020204" pitchFamily="34" charset="0"/>
              <a:buNone/>
            </a:pPr>
            <a:r>
              <a:t>Data preprocessing involved managing missing values, encoding categories, and normalizing numerical features.</a:t>
            </a:r>
            <a:endParaRPr lang="en-US"/>
          </a:p>
          <a:p>
            <a:pPr marL="0" indent="0">
              <a:spcBef>
                <a:spcPts val="2500"/>
              </a:spcBef>
              <a:buFont typeface="Arial" panose="020B0604020202020204" pitchFamily="34" charset="0"/>
              <a:buNone/>
            </a:pPr>
            <a:r>
              <a:rPr lang="en-US" b="1"/>
              <a:t>Machine Learning Models</a:t>
            </a:r>
          </a:p>
          <a:p>
            <a:pPr marL="0" lvl="1" indent="0">
              <a:buFont typeface="Arial" panose="020B0604020202020204" pitchFamily="34" charset="0"/>
              <a:buNone/>
            </a:pPr>
            <a:r>
              <a:t>Applied models include Linear Regression, Ridge, Lasso, Decision Tree, Random Forest, and XGBoost for prediction.</a:t>
            </a:r>
            <a:endParaRPr lang="en-US"/>
          </a:p>
          <a:p>
            <a:pPr marL="0" indent="0">
              <a:spcBef>
                <a:spcPts val="2500"/>
              </a:spcBef>
              <a:buFont typeface="Arial" panose="020B0604020202020204" pitchFamily="34" charset="0"/>
              <a:buNone/>
            </a:pPr>
            <a:r>
              <a:rPr lang="en-US" b="1"/>
              <a:t>Tools and Evaluation Metrics</a:t>
            </a:r>
          </a:p>
          <a:p>
            <a:pPr marL="0" lvl="1" indent="0">
              <a:buFont typeface="Arial" panose="020B0604020202020204" pitchFamily="34" charset="0"/>
              <a:buNone/>
            </a:pPr>
            <a:r>
              <a:t>Used Python libraries, visualization tools, and evaluation metrics such as R² score and mean squared error.</a:t>
            </a:r>
            <a:endParaRPr lang="en-US"/>
          </a:p>
        </p:txBody>
      </p:sp>
      <p:pic>
        <p:nvPicPr>
          <p:cNvPr id="5" name="Content Placeholder 4" descr="Printout of a production schedule for a manufacturing facility.Note to Inspectors: All product and machine names used are purely ficticious and created for this photograph.">
            <a:extLst>
              <a:ext uri="{FF2B5EF4-FFF2-40B4-BE49-F238E27FC236}">
                <a16:creationId xmlns:a16="http://schemas.microsoft.com/office/drawing/2014/main" id="{A36820B3-2AF5-4B7C-9C36-9A9C7A17A86A}"/>
              </a:ext>
            </a:extLst>
          </p:cNvPr>
          <p:cNvPicPr>
            <a:picLocks noGrp="1" noChangeAspect="1"/>
          </p:cNvPicPr>
          <p:nvPr>
            <p:ph type="pic" sz="quarter" idx="13"/>
          </p:nvPr>
        </p:nvPicPr>
        <p:blipFill>
          <a:blip r:embed="rId3"/>
          <a:srcRect l="30133" r="30133"/>
          <a:stretch/>
        </p:blipFill>
        <p:spPr>
          <a:prstGeom prst="rect">
            <a:avLst/>
          </a:prstGeom>
          <a:noFill/>
        </p:spPr>
      </p:pic>
    </p:spTree>
    <p:extLst>
      <p:ext uri="{BB962C8B-B14F-4D97-AF65-F5344CB8AC3E}">
        <p14:creationId xmlns:p14="http://schemas.microsoft.com/office/powerpoint/2010/main" val="6506489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DF10072-02C4-49CD-A62E-A2D45571E05B}">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EA42C18-4C38-43BB-8CE3-C963EDA9CBBA}">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0DE0AE46-2EED-447A-8B24-DFD65B70D448}">
  <ds:schemaRefs>
    <ds:schemaRef ds:uri="http://schemas.microsoft.com/sharepoint/v3/contenttype/forms"/>
  </ds:schemaRefs>
</ds:datastoreItem>
</file>

<file path=docMetadata/LabelInfo.xml><?xml version="1.0" encoding="utf-8"?>
<clbl:labelList xmlns:clbl="http://schemas.microsoft.com/office/2020/mipLabelMetadata">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21</Slides>
  <Notes>21</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Parallax</vt:lpstr>
      <vt:lpstr>USA House Price Prediction Project</vt:lpstr>
      <vt:lpstr>Executive Summary</vt:lpstr>
      <vt:lpstr>Project Overview and Performance</vt:lpstr>
      <vt:lpstr>Introduction</vt:lpstr>
      <vt:lpstr>Business Problem and Project Goal</vt:lpstr>
      <vt:lpstr>Methodology</vt:lpstr>
      <vt:lpstr>Data Processing and Modeling Approach</vt:lpstr>
      <vt:lpstr>EDA Insights</vt:lpstr>
      <vt:lpstr>Key Features Influencing House Prices</vt:lpstr>
      <vt:lpstr>Model Development</vt:lpstr>
      <vt:lpstr>Selected Model and Hyperparameter Tuning</vt:lpstr>
      <vt:lpstr>Model Comparison</vt:lpstr>
      <vt:lpstr>Performance of Regression Models</vt:lpstr>
      <vt:lpstr>Deployment</vt:lpstr>
      <vt:lpstr>Web Application and Hosting</vt:lpstr>
      <vt:lpstr>Key Findings</vt:lpstr>
      <vt:lpstr>Insights for Real Estate Investment</vt:lpstr>
      <vt:lpstr>Conclusion</vt:lpstr>
      <vt:lpstr>Project Summary and Future Scope</vt:lpstr>
      <vt:lpstr>Appendix</vt:lpstr>
      <vt:lpstr>Technical Details and Tools Used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39</cp:revision>
  <dcterms:created xsi:type="dcterms:W3CDTF">2025-08-04T03:17:32Z</dcterms:created>
  <dcterms:modified xsi:type="dcterms:W3CDTF">2025-11-20T09:28:27Z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